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3c19092e-b370-eac4-7fa7-96d6d691fd68}">
          <p14:sldIdLst>
            <p14:sldId id="256"/>
            <p14:sldId id="257"/>
            <p14:sldId id="258"/>
          </p14:sldIdLst>
        </p14:section>
        <p14:section name="Design" id="{806c0c73-c239-9cda-3032-2ccd548cd0db}">
          <p14:sldIdLst>
            <p14:sldId id="259"/>
            <p14:sldId id="260"/>
            <p14:sldId id="261"/>
            <p14:sldId id="262"/>
          </p14:sldIdLst>
        </p14:section>
        <p14:section name="Evidence" id="{6d4881f7-2661-97c3-ae36-52c3288e0453}">
          <p14:sldIdLst>
            <p14:sldId id="263"/>
            <p14:sldId id="264"/>
            <p14:sldId id="265"/>
            <p14:sldId id="266"/>
          </p14:sldIdLst>
        </p14:section>
        <p14:section name="Close" id="{73cf3623-d2c7-f95d-c856-9b197c5fe4c5}">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MRR</c:v>
                </c:pt>
              </c:strCache>
            </c:strRef>
          </c:tx>
          <c:spPr>
            <a:solidFill>
              <a:srgbClr val="028090"/>
            </a:solidFill>
            <a:effectLst/>
          </c:spPr>
          <c:invertIfNegative val="0"/>
          <c:dLbls>
            <c:numFmt formatCode="0.000" sourceLinked="0"/>
            <c:txPr>
              <a:bodyPr/>
              <a:lstStyle/>
              <a:p>
                <a:pPr>
                  <a:defRPr b="0" i="0" strike="noStrike" sz="1200" u="none">
                    <a:solidFill>
                      <a:srgbClr val="0B2A33"/>
                    </a:solidFill>
                    <a:latin typeface="+mn-lt"/>
                  </a:defRPr>
                </a:pPr>
              </a:p>
            </c:txPr>
            <c:showLegendKey val="0"/>
            <c:showVal val="1"/>
            <c:showCatName val="0"/>
            <c:showSerName val="0"/>
            <c:showPercent val="0"/>
            <c:showBubbleSize val="0"/>
            <c:showLeaderLines val="0"/>
          </c:dLbls>
          <c:cat>
            <c:multiLvlStrRef>
              <c:f>Sheet1!$A$2:$A$5</c:f>
              <c:multiLvlStrCache>
                <c:ptCount val="4"/>
                <c:lvl>
                  <c:pt idx="0">
                    <c:v>BM25</c:v>
                  </c:pt>
                  <c:pt idx="1">
                    <c:v>Embeddings</c:v>
                  </c:pt>
                  <c:pt idx="2">
                    <c:v>Hybrid (RRF)</c:v>
                  </c:pt>
                  <c:pt idx="3">
                    <c:v>Hybrid + re-rank</c:v>
                  </c:pt>
                </c:lvl>
              </c:multiLvlStrCache>
            </c:multiLvlStrRef>
          </c:cat>
          <c:val>
            <c:numRef>
              <c:f>Sheet1!$B$2:$B$5</c:f>
              <c:numCache>
                <c:formatCode>General</c:formatCode>
                <c:ptCount val="4"/>
                <c:pt idx="0">
                  <c:v>0.848</c:v>
                </c:pt>
                <c:pt idx="1">
                  <c:v>0.88</c:v>
                </c:pt>
                <c:pt idx="2">
                  <c:v>0.92</c:v>
                </c:pt>
                <c:pt idx="3">
                  <c:v>0.942</c:v>
                </c:pt>
              </c:numCache>
            </c:numRef>
          </c:val>
        </c:ser>
        <c:dLbls>
          <c:numFmt formatCode="0.000" sourceLinked="0"/>
          <c:txPr>
            <a:bodyPr/>
            <a:lstStyle/>
            <a:p>
              <a:pPr>
                <a:defRPr b="0" i="0" strike="noStrike" sz="1200" u="none">
                  <a:solidFill>
                    <a:srgbClr val="0B2A33"/>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B2A33"/>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5E3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7B86"/>
                </a:solidFill>
                <a:latin typeface="+mn-lt"/>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ms</c:v>
                </c:pt>
              </c:strCache>
            </c:strRef>
          </c:tx>
          <c:spPr>
            <a:solidFill>
              <a:srgbClr val="E4572E"/>
            </a:solidFill>
            <a:effectLst/>
          </c:spPr>
          <c:invertIfNegative val="0"/>
          <c:dLbls>
            <c:numFmt formatCode="0.0" sourceLinked="0"/>
            <c:txPr>
              <a:bodyPr/>
              <a:lstStyle/>
              <a:p>
                <a:pPr>
                  <a:defRPr b="0" i="0" strike="noStrike" sz="1200" u="none">
                    <a:solidFill>
                      <a:srgbClr val="0B2A33"/>
                    </a:solidFill>
                    <a:latin typeface="+mn-lt"/>
                  </a:defRPr>
                </a:pPr>
              </a:p>
            </c:txPr>
            <c:showLegendKey val="0"/>
            <c:showVal val="1"/>
            <c:showCatName val="0"/>
            <c:showSerName val="0"/>
            <c:showPercent val="0"/>
            <c:showBubbleSize val="0"/>
            <c:showLeaderLines val="0"/>
          </c:dLbls>
          <c:dPt>
            <c:idx val="0"/>
            <c:invertIfNegative val="0"/>
            <c:bubble3D val="0"/>
            <c:spPr>
              <a:solidFill>
                <a:srgbClr val="E4572E"/>
              </a:solidFill>
              <a:effectLst/>
            </c:spPr>
          </c:dPt>
          <c:dPt>
            <c:idx val="1"/>
            <c:invertIfNegative val="0"/>
            <c:bubble3D val="0"/>
            <c:spPr>
              <a:solidFill>
                <a:srgbClr val="028090"/>
              </a:solidFill>
              <a:effectLst/>
            </c:spPr>
          </c:dPt>
          <c:dPt>
            <c:idx val="2"/>
            <c:invertIfNegative val="0"/>
            <c:bubble3D val="0"/>
            <c:spPr>
              <a:solidFill>
                <a:srgbClr val="028090"/>
              </a:solidFill>
              <a:effectLst/>
            </c:spPr>
          </c:dPt>
          <c:dPt>
            <c:idx val="3"/>
            <c:invertIfNegative val="0"/>
            <c:bubble3D val="0"/>
            <c:spPr>
              <a:solidFill>
                <a:srgbClr val="028090"/>
              </a:solidFill>
              <a:effectLst/>
            </c:spPr>
          </c:dPt>
          <c:dPt>
            <c:idx val="4"/>
            <c:invertIfNegative val="0"/>
            <c:bubble3D val="0"/>
            <c:spPr>
              <a:solidFill>
                <a:srgbClr val="028090"/>
              </a:solidFill>
              <a:effectLst/>
            </c:spPr>
          </c:dPt>
          <c:dPt>
            <c:idx val="5"/>
            <c:invertIfNegative val="0"/>
            <c:bubble3D val="0"/>
            <c:spPr>
              <a:solidFill>
                <a:srgbClr val="028090"/>
              </a:solidFill>
              <a:effectLst/>
            </c:spPr>
          </c:dPt>
          <c:dPt>
            <c:idx val="6"/>
            <c:invertIfNegative val="0"/>
            <c:bubble3D val="0"/>
            <c:spPr>
              <a:solidFill>
                <a:srgbClr val="028090"/>
              </a:solidFill>
              <a:effectLst/>
            </c:spPr>
          </c:dPt>
          <c:dPt>
            <c:idx val="7"/>
            <c:invertIfNegative val="0"/>
            <c:bubble3D val="0"/>
            <c:spPr>
              <a:solidFill>
                <a:srgbClr val="028090"/>
              </a:solidFill>
              <a:effectLst/>
            </c:spPr>
          </c:dPt>
          <c:cat>
            <c:multiLvlStrRef>
              <c:f>Sheet1!$A$2:$A$9</c:f>
              <c:multiLvlStrCache>
                <c:ptCount val="8"/>
                <c:lvl>
                  <c:pt idx="0">
                    <c:v>Re-rank</c:v>
                  </c:pt>
                  <c:pt idx="1">
                    <c:v>Embeddings</c:v>
                  </c:pt>
                  <c:pt idx="2">
                    <c:v>Context build</c:v>
                  </c:pt>
                  <c:pt idx="3">
                    <c:v>Output guard</c:v>
                  </c:pt>
                  <c:pt idx="4">
                    <c:v>LLM stand-in</c:v>
                  </c:pt>
                  <c:pt idx="5">
                    <c:v>BM25</c:v>
                  </c:pt>
                  <c:pt idx="6">
                    <c:v>Input guard</c:v>
                  </c:pt>
                  <c:pt idx="7">
                    <c:v>Masking</c:v>
                  </c:pt>
                </c:lvl>
              </c:multiLvlStrCache>
            </c:multiLvlStrRef>
          </c:cat>
          <c:val>
            <c:numRef>
              <c:f>Sheet1!$B$2:$B$9</c:f>
              <c:numCache>
                <c:formatCode>General</c:formatCode>
                <c:ptCount val="8"/>
                <c:pt idx="0">
                  <c:v>240.4</c:v>
                </c:pt>
                <c:pt idx="1">
                  <c:v>22.5</c:v>
                </c:pt>
                <c:pt idx="2">
                  <c:v>0.7</c:v>
                </c:pt>
                <c:pt idx="3">
                  <c:v>0.5</c:v>
                </c:pt>
                <c:pt idx="4">
                  <c:v>0.3</c:v>
                </c:pt>
                <c:pt idx="5">
                  <c:v>0.1</c:v>
                </c:pt>
                <c:pt idx="6">
                  <c:v>0.1</c:v>
                </c:pt>
                <c:pt idx="7">
                  <c:v>0.1</c:v>
                </c:pt>
              </c:numCache>
            </c:numRef>
          </c:val>
        </c:ser>
        <c:dLbls>
          <c:numFmt formatCode="0.0" sourceLinked="0"/>
          <c:txPr>
            <a:bodyPr/>
            <a:lstStyle/>
            <a:p>
              <a:pPr>
                <a:defRPr b="0" i="0" strike="noStrike" sz="1200" u="none">
                  <a:solidFill>
                    <a:srgbClr val="0B2A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B2A33"/>
                </a:solidFill>
                <a:latin typeface="+mn-lt"/>
              </a:defRPr>
            </a:pPr>
            <a:endParaRPr lang="en-US"/>
          </a:p>
        </c:txPr>
        <c:crossAx val="2094734552"/>
        <c:crosses val="autoZero"/>
        <c:auto val="1"/>
        <c:lblAlgn val="ctr"/>
        <c:noMultiLvlLbl val="1"/>
      </c:catAx>
      <c:valAx>
        <c:axId val="2094734552"/>
        <c:scaling>
          <c:orientation val="minMax"/>
          <c:max val="3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ragkit lets staff of a health-data platform ask policy questions and get cited answers without patient or staff identifiers ever reaching the index, the model, the logs or the metrics. The chips are what identifiers become inside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headline facts. The zero is measured: the evaluation checks every prompt and answer for planted identifiers, and tests check metrics, traces and logs. All data is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stages. Guards run on the raw question; everything after masking sees only tokens. The index itself was built from protected text, so there is nothing to leak even if a later layer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Pseudonymisation keeps linkability so retrieval works; it is still personal data under GDPR. Reports use the irreversible path. Our own policy says anonymisation needs DPO sign-off, so the code never calls the output anonymous.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output of scripts/anonymise_report.py: minus lines are the original, plus lines the de-identified text. A very old patient (over 89) would have the birth year removed and age shown as 90+. The 74/74 figure is a regression guard on reports I wrote, not a field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heading-aware chunks, BM25 plus embeddings fused by reciprocal rank, then a re-ranker. Recall at 3 is 0.913 for BM25, 0.978 for embeddings, 1.000 for hybrid and 0.978 with the re-ranker, so the re-ranker improves order, not recall, and cost one question's recall.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guard is trusted. The tests assert outcomes, such as nothing leaked, rather than which regex fired, so a regex can later be replaced by a classifier without rewriting the suite. The generative red-team configuration is written but has not been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 of the Streamlit app running against the live API. The expander shows exactly what the model receives: the question contains a token, not the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Prometheus metrics at /metrics, stage spans with optional OpenTelemetry, one log line per request. Tests prove no identifier appears in metrics, traces or logs. The Docker, Prometheus rules and Grafana files exist but were not executed in this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on this machine, CPU only, excluding a hosted LLM which has not been run. The cross-encoder re-ranker is about 240 of 263 ms of retrieval, which is where to optimise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Offline profile numbers are lower on paraphrased questions by design: its embedding is lexical hashing so CI needs no model download. The hard negative is 'Which hospitals in Poland use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privacy-critical system should not overclaim. These three columns mirror the status section of the README (arc42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Fourteen risks are listed in chapter 11 of the README (arc42) with mitigations. These four matter most. Quarantine matters because a report flagged needs_review currently stays indexed until an operator 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shown was run for this project; the screenshots are in docs/screenshots.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937760" cy="1371600"/>
          </a:xfrm>
          <a:prstGeom prst="rect">
            <a:avLst/>
          </a:prstGeom>
          <a:noFill/>
          <a:ln/>
        </p:spPr>
        <p:txBody>
          <a:bodyPr wrap="square" rtlCol="0"/>
          <a:lstStyle>
            <a:lvl1pPr indent="0" marL="0">
              <a:buNone/>
              <a:defRPr lang="en-US" sz="4800" b="1" dirty="0">
                <a:solidFill>
                  <a:schemeClr val="bg1"/>
                </a:solidFill>
              </a:defRPr>
            </a:lvl1pPr>
          </a:lstStyle>
          <a:p>
            <a:pPr indent="0" marL="0">
              <a:buNone/>
            </a:pPr>
            <a:endParaRPr lang="en-US" sz="4800" dirty="0"/>
          </a:p>
        </p:txBody>
      </p:sp>
      <p:sp>
        <p:nvSpPr>
          <p:cNvPr id="3" name="Text 0"/>
          <p:cNvSpPr/>
          <p:nvPr>
            <p:ph idx="101" type="body" hasCustomPrompt="1"/>
          </p:nvPr>
        </p:nvSpPr>
        <p:spPr>
          <a:xfrm>
            <a:off x="548640" y="2743200"/>
            <a:ext cx="4754880" cy="10972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3" name="Text 0"/>
          <p:cNvSpPr/>
          <p:nvPr/>
        </p:nvSpPr>
        <p:spPr>
          <a:xfrm>
            <a:off x="457200" y="4818888"/>
            <a:ext cx="5486400" cy="228600"/>
          </a:xfrm>
          <a:prstGeom prst="rect">
            <a:avLst/>
          </a:prstGeom>
          <a:noFill/>
          <a:ln/>
        </p:spPr>
        <p:txBody>
          <a:bodyPr wrap="square" lIns="0" tIns="0" rIns="0" bIns="0" rtlCol="0" anchor="ctr"/>
          <a:lstStyle/>
          <a:p>
            <a:pPr indent="0" marL="0">
              <a:buNone/>
            </a:pPr>
            <a:r>
              <a:rPr lang="en-US" sz="1000" dirty="0">
                <a:solidFill>
                  <a:schemeClr val="accent5"/>
                </a:solidFill>
              </a:rPr>
              <a:t>ragkit  |  privacy-preserving RAG for health-data interoperability</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6583680" cy="146304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548640" y="3017520"/>
            <a:ext cx="6583680" cy="10972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937760" cy="1371600"/>
          </a:xfrm>
          <a:prstGeom prst="rect">
            <a:avLst/>
          </a:prstGeom>
          <a:noFill/>
          <a:ln/>
        </p:spPr>
        <p:txBody>
          <a:bodyPr wrap="square" lIns="0" tIns="0" rIns="0" bIns="0" rtlCol="0" anchor="b"/>
          <a:lstStyle/>
          <a:p>
            <a:pPr indent="0" marL="0">
              <a:buNone/>
            </a:pPr>
            <a:r>
              <a:rPr lang="en-US" sz="4800" b="1" dirty="0">
                <a:solidFill>
                  <a:schemeClr val="bg1"/>
                </a:solidFill>
              </a:rPr>
              <a:t>ragkit</a:t>
            </a:r>
            <a:endParaRPr lang="en-US" sz="4800" dirty="0"/>
          </a:p>
        </p:txBody>
      </p:sp>
      <p:sp>
        <p:nvSpPr>
          <p:cNvPr id="3" name="Text 0"/>
          <p:cNvSpPr/>
          <p:nvPr>
            <p:ph idx="101" type="body" hasCustomPrompt="1"/>
          </p:nvPr>
        </p:nvSpPr>
        <p:spPr>
          <a:xfrm>
            <a:off x="548640" y="2743200"/>
            <a:ext cx="4754880" cy="1097280"/>
          </a:xfrm>
          <a:prstGeom prst="rect">
            <a:avLst/>
          </a:prstGeom>
          <a:noFill/>
          <a:ln/>
        </p:spPr>
        <p:txBody>
          <a:bodyPr wrap="square" lIns="0" tIns="0" rIns="0" bIns="0" rtlCol="0" anchor="t"/>
          <a:lstStyle/>
          <a:p>
            <a:pPr indent="0" marL="0">
              <a:buNone/>
            </a:pPr>
            <a:r>
              <a:rPr lang="en-US" sz="1800" dirty="0">
                <a:solidFill>
                  <a:schemeClr val="accent6"/>
                </a:solidFill>
              </a:rPr>
              <a:t>Privacy-preserving question answering for health-data interoperability</a:t>
            </a:r>
            <a:endParaRPr lang="en-US" sz="1800" dirty="0"/>
          </a:p>
        </p:txBody>
      </p:sp>
      <p:sp>
        <p:nvSpPr>
          <p:cNvPr id="4" name="Regions"/>
          <p:cNvSpPr txBox="1"/>
          <p:nvPr/>
        </p:nvSpPr>
        <p:spPr>
          <a:xfrm>
            <a:off x="548640" y="4160520"/>
            <a:ext cx="5486400" cy="274320"/>
          </a:xfrm>
          <a:prstGeom prst="rect">
            <a:avLst/>
          </a:prstGeom>
          <a:noFill/>
          <a:ln/>
        </p:spPr>
        <p:txBody>
          <a:bodyPr wrap="square" lIns="0" tIns="0" rIns="0" bIns="0" rtlCol="0" anchor="ctr"/>
          <a:lstStyle/>
          <a:p>
            <a:pPr indent="0" marL="0">
              <a:buNone/>
            </a:pPr>
            <a:r>
              <a:rPr lang="en-US" sz="1200" dirty="0">
                <a:solidFill>
                  <a:schemeClr val="accent5"/>
                </a:solidFill>
              </a:rPr>
              <a:t>Slovakia  |  Czechia  |  India  |  toward the European Health Data Space</a:t>
            </a:r>
            <a:endParaRPr lang="en-US" sz="1200" dirty="0"/>
          </a:p>
        </p:txBody>
      </p:sp>
      <p:sp>
        <p:nvSpPr>
          <p:cNvPr id="5" name="Token chip 1"/>
          <p:cNvSpPr/>
          <p:nvPr/>
        </p:nvSpPr>
        <p:spPr>
          <a:xfrm>
            <a:off x="5760720" y="822960"/>
            <a:ext cx="1229868" cy="310896"/>
          </a:xfrm>
          <a:prstGeom prst="roundRect">
            <a:avLst>
              <a:gd name="adj" fmla="val 50000"/>
            </a:avLst>
          </a:prstGeom>
          <a:solidFill>
            <a:schemeClr val="tx1">
              <a:alpha val="0"/>
            </a:schemeClr>
          </a:solidFill>
          <a:ln w="15875">
            <a:solidFill>
              <a:schemeClr val="accent3"/>
            </a:solidFill>
            <a:prstDash val="solid"/>
          </a:ln>
        </p:spPr>
      </p:sp>
      <p:sp>
        <p:nvSpPr>
          <p:cNvPr id="6" name="Token chip 1 text"/>
          <p:cNvSpPr txBox="1"/>
          <p:nvPr/>
        </p:nvSpPr>
        <p:spPr>
          <a:xfrm>
            <a:off x="5760720" y="822960"/>
            <a:ext cx="1229868" cy="310896"/>
          </a:xfrm>
          <a:prstGeom prst="rect">
            <a:avLst/>
          </a:prstGeom>
          <a:noFill/>
          <a:ln/>
        </p:spPr>
        <p:txBody>
          <a:bodyPr wrap="square" lIns="0" tIns="0" rIns="0" bIns="0" rtlCol="0" anchor="ctr"/>
          <a:lstStyle/>
          <a:p>
            <a:pPr algn="ctr" indent="0" marL="0">
              <a:buNone/>
            </a:pPr>
            <a:r>
              <a:rPr lang="en-US" sz="1200" b="1" dirty="0">
                <a:solidFill>
                  <a:schemeClr val="accent6"/>
                </a:solidFill>
                <a:latin typeface="Courier New" pitchFamily="34" charset="0"/>
                <a:ea typeface="Courier New" pitchFamily="34" charset="-122"/>
                <a:cs typeface="Courier New" pitchFamily="34" charset="-120"/>
              </a:rPr>
              <a:t>[PATIENT]</a:t>
            </a:r>
            <a:endParaRPr lang="en-US" sz="1200" dirty="0"/>
          </a:p>
        </p:txBody>
      </p:sp>
      <p:sp>
        <p:nvSpPr>
          <p:cNvPr id="7" name="Token chip 2"/>
          <p:cNvSpPr/>
          <p:nvPr/>
        </p:nvSpPr>
        <p:spPr>
          <a:xfrm>
            <a:off x="6903720" y="1298448"/>
            <a:ext cx="1805940" cy="310896"/>
          </a:xfrm>
          <a:prstGeom prst="roundRect">
            <a:avLst>
              <a:gd name="adj" fmla="val 50000"/>
            </a:avLst>
          </a:prstGeom>
          <a:solidFill>
            <a:schemeClr val="tx1">
              <a:alpha val="0"/>
            </a:schemeClr>
          </a:solidFill>
          <a:ln w="15875">
            <a:solidFill>
              <a:schemeClr val="accent3"/>
            </a:solidFill>
            <a:prstDash val="solid"/>
          </a:ln>
        </p:spPr>
      </p:sp>
      <p:sp>
        <p:nvSpPr>
          <p:cNvPr id="8" name="Token chip 2 text"/>
          <p:cNvSpPr txBox="1"/>
          <p:nvPr/>
        </p:nvSpPr>
        <p:spPr>
          <a:xfrm>
            <a:off x="6903720" y="1298448"/>
            <a:ext cx="1805940" cy="310896"/>
          </a:xfrm>
          <a:prstGeom prst="rect">
            <a:avLst/>
          </a:prstGeom>
          <a:noFill/>
          <a:ln/>
        </p:spPr>
        <p:txBody>
          <a:bodyPr wrap="square" lIns="0" tIns="0" rIns="0" bIns="0" rtlCol="0" anchor="ctr"/>
          <a:lstStyle/>
          <a:p>
            <a:pPr algn="ctr" indent="0" marL="0">
              <a:buNone/>
            </a:pPr>
            <a:r>
              <a:rPr lang="en-US" sz="1200" b="1" dirty="0">
                <a:solidFill>
                  <a:schemeClr val="accent6"/>
                </a:solidFill>
                <a:latin typeface="Courier New" pitchFamily="34" charset="0"/>
                <a:ea typeface="Courier New" pitchFamily="34" charset="-122"/>
                <a:cs typeface="Courier New" pitchFamily="34" charset="-120"/>
              </a:rPr>
              <a:t>[PERSON_1be848]</a:t>
            </a:r>
            <a:endParaRPr lang="en-US" sz="1200" dirty="0"/>
          </a:p>
        </p:txBody>
      </p:sp>
      <p:sp>
        <p:nvSpPr>
          <p:cNvPr id="9" name="Token chip 3"/>
          <p:cNvSpPr/>
          <p:nvPr/>
        </p:nvSpPr>
        <p:spPr>
          <a:xfrm>
            <a:off x="5760720" y="1773936"/>
            <a:ext cx="1613916" cy="310896"/>
          </a:xfrm>
          <a:prstGeom prst="roundRect">
            <a:avLst>
              <a:gd name="adj" fmla="val 50000"/>
            </a:avLst>
          </a:prstGeom>
          <a:solidFill>
            <a:schemeClr val="tx1">
              <a:alpha val="0"/>
            </a:schemeClr>
          </a:solidFill>
          <a:ln w="15875">
            <a:solidFill>
              <a:schemeClr val="accent3"/>
            </a:solidFill>
            <a:prstDash val="solid"/>
          </a:ln>
        </p:spPr>
      </p:sp>
      <p:sp>
        <p:nvSpPr>
          <p:cNvPr id="10" name="Token chip 3 text"/>
          <p:cNvSpPr txBox="1"/>
          <p:nvPr/>
        </p:nvSpPr>
        <p:spPr>
          <a:xfrm>
            <a:off x="5760720" y="1773936"/>
            <a:ext cx="1613916" cy="310896"/>
          </a:xfrm>
          <a:prstGeom prst="rect">
            <a:avLst/>
          </a:prstGeom>
          <a:noFill/>
          <a:ln/>
        </p:spPr>
        <p:txBody>
          <a:bodyPr wrap="square" lIns="0" tIns="0" rIns="0" bIns="0" rtlCol="0" anchor="ctr"/>
          <a:lstStyle/>
          <a:p>
            <a:pPr algn="ctr" indent="0" marL="0">
              <a:buNone/>
            </a:pPr>
            <a:r>
              <a:rPr lang="en-US" sz="1200" b="1" dirty="0">
                <a:solidFill>
                  <a:schemeClr val="accent6"/>
                </a:solidFill>
                <a:latin typeface="Courier New" pitchFamily="34" charset="0"/>
                <a:ea typeface="Courier New" pitchFamily="34" charset="-122"/>
                <a:cs typeface="Courier New" pitchFamily="34" charset="-120"/>
              </a:rPr>
              <a:t>[NATIONAL_ID]</a:t>
            </a:r>
            <a:endParaRPr lang="en-US" sz="1200" dirty="0"/>
          </a:p>
        </p:txBody>
      </p:sp>
      <p:sp>
        <p:nvSpPr>
          <p:cNvPr id="11" name="Token chip 4"/>
          <p:cNvSpPr/>
          <p:nvPr/>
        </p:nvSpPr>
        <p:spPr>
          <a:xfrm>
            <a:off x="6903720" y="2249424"/>
            <a:ext cx="749808" cy="310896"/>
          </a:xfrm>
          <a:prstGeom prst="roundRect">
            <a:avLst>
              <a:gd name="adj" fmla="val 50000"/>
            </a:avLst>
          </a:prstGeom>
          <a:solidFill>
            <a:schemeClr val="tx1">
              <a:alpha val="0"/>
            </a:schemeClr>
          </a:solidFill>
          <a:ln w="15875">
            <a:solidFill>
              <a:schemeClr val="accent3"/>
            </a:solidFill>
            <a:prstDash val="solid"/>
          </a:ln>
        </p:spPr>
      </p:sp>
      <p:sp>
        <p:nvSpPr>
          <p:cNvPr id="12" name="Token chip 4 text"/>
          <p:cNvSpPr txBox="1"/>
          <p:nvPr/>
        </p:nvSpPr>
        <p:spPr>
          <a:xfrm>
            <a:off x="6903720" y="2249424"/>
            <a:ext cx="749808" cy="310896"/>
          </a:xfrm>
          <a:prstGeom prst="rect">
            <a:avLst/>
          </a:prstGeom>
          <a:noFill/>
          <a:ln/>
        </p:spPr>
        <p:txBody>
          <a:bodyPr wrap="square" lIns="0" tIns="0" rIns="0" bIns="0" rtlCol="0" anchor="ctr"/>
          <a:lstStyle/>
          <a:p>
            <a:pPr algn="ctr" indent="0" marL="0">
              <a:buNone/>
            </a:pPr>
            <a:r>
              <a:rPr lang="en-US" sz="1200" b="1" dirty="0">
                <a:solidFill>
                  <a:schemeClr val="accent6"/>
                </a:solidFill>
                <a:latin typeface="Courier New" pitchFamily="34" charset="0"/>
                <a:ea typeface="Courier New" pitchFamily="34" charset="-122"/>
                <a:cs typeface="Courier New" pitchFamily="34" charset="-120"/>
              </a:rPr>
              <a:t>1978</a:t>
            </a:r>
            <a:endParaRPr lang="en-US" sz="1200" dirty="0"/>
          </a:p>
        </p:txBody>
      </p:sp>
      <p:sp>
        <p:nvSpPr>
          <p:cNvPr id="13" name="Token chip 5"/>
          <p:cNvSpPr/>
          <p:nvPr/>
        </p:nvSpPr>
        <p:spPr>
          <a:xfrm>
            <a:off x="5760720" y="2724912"/>
            <a:ext cx="845820" cy="310896"/>
          </a:xfrm>
          <a:prstGeom prst="roundRect">
            <a:avLst>
              <a:gd name="adj" fmla="val 50000"/>
            </a:avLst>
          </a:prstGeom>
          <a:solidFill>
            <a:schemeClr val="tx1">
              <a:alpha val="0"/>
            </a:schemeClr>
          </a:solidFill>
          <a:ln w="15875">
            <a:solidFill>
              <a:schemeClr val="accent3"/>
            </a:solidFill>
            <a:prstDash val="solid"/>
          </a:ln>
        </p:spPr>
      </p:sp>
      <p:sp>
        <p:nvSpPr>
          <p:cNvPr id="14" name="Token chip 5 text"/>
          <p:cNvSpPr txBox="1"/>
          <p:nvPr/>
        </p:nvSpPr>
        <p:spPr>
          <a:xfrm>
            <a:off x="5760720" y="2724912"/>
            <a:ext cx="845820" cy="310896"/>
          </a:xfrm>
          <a:prstGeom prst="rect">
            <a:avLst/>
          </a:prstGeom>
          <a:noFill/>
          <a:ln/>
        </p:spPr>
        <p:txBody>
          <a:bodyPr wrap="square" lIns="0" tIns="0" rIns="0" bIns="0" rtlCol="0" anchor="ctr"/>
          <a:lstStyle/>
          <a:p>
            <a:pPr algn="ctr" indent="0" marL="0">
              <a:buNone/>
            </a:pPr>
            <a:r>
              <a:rPr lang="en-US" sz="1200" b="1" dirty="0">
                <a:solidFill>
                  <a:schemeClr val="accent6"/>
                </a:solidFill>
                <a:latin typeface="Courier New" pitchFamily="34" charset="0"/>
                <a:ea typeface="Courier New" pitchFamily="34" charset="-122"/>
                <a:cs typeface="Courier New" pitchFamily="34" charset="-120"/>
              </a:rPr>
              <a:t>45-49</a:t>
            </a:r>
            <a:endParaRPr lang="en-US" sz="1200" dirty="0"/>
          </a:p>
        </p:txBody>
      </p:sp>
      <p:sp>
        <p:nvSpPr>
          <p:cNvPr id="15" name="Token chip 6"/>
          <p:cNvSpPr/>
          <p:nvPr/>
        </p:nvSpPr>
        <p:spPr>
          <a:xfrm>
            <a:off x="6903720" y="3200400"/>
            <a:ext cx="845820" cy="310896"/>
          </a:xfrm>
          <a:prstGeom prst="roundRect">
            <a:avLst>
              <a:gd name="adj" fmla="val 50000"/>
            </a:avLst>
          </a:prstGeom>
          <a:solidFill>
            <a:schemeClr val="tx1">
              <a:alpha val="0"/>
            </a:schemeClr>
          </a:solidFill>
          <a:ln w="15875">
            <a:solidFill>
              <a:schemeClr val="accent3"/>
            </a:solidFill>
            <a:prstDash val="solid"/>
          </a:ln>
        </p:spPr>
      </p:sp>
      <p:sp>
        <p:nvSpPr>
          <p:cNvPr id="16" name="Token chip 6 text"/>
          <p:cNvSpPr txBox="1"/>
          <p:nvPr/>
        </p:nvSpPr>
        <p:spPr>
          <a:xfrm>
            <a:off x="6903720" y="3200400"/>
            <a:ext cx="845820" cy="310896"/>
          </a:xfrm>
          <a:prstGeom prst="rect">
            <a:avLst/>
          </a:prstGeom>
          <a:noFill/>
          <a:ln/>
        </p:spPr>
        <p:txBody>
          <a:bodyPr wrap="square" lIns="0" tIns="0" rIns="0" bIns="0" rtlCol="0" anchor="ctr"/>
          <a:lstStyle/>
          <a:p>
            <a:pPr algn="ctr" indent="0" marL="0">
              <a:buNone/>
            </a:pPr>
            <a:r>
              <a:rPr lang="en-US" sz="1200" b="1" dirty="0">
                <a:solidFill>
                  <a:schemeClr val="accent6"/>
                </a:solidFill>
                <a:latin typeface="Courier New" pitchFamily="34" charset="0"/>
                <a:ea typeface="Courier New" pitchFamily="34" charset="-122"/>
                <a:cs typeface="Courier New" pitchFamily="34" charset="-120"/>
              </a:rPr>
              <a:t>130**</a:t>
            </a:r>
            <a:endParaRPr lang="en-US" sz="1200" dirty="0"/>
          </a:p>
        </p:txBody>
      </p:sp>
      <p:sp>
        <p:nvSpPr>
          <p:cNvPr id="17" name="Token chip 7"/>
          <p:cNvSpPr/>
          <p:nvPr/>
        </p:nvSpPr>
        <p:spPr>
          <a:xfrm>
            <a:off x="5760720" y="3675888"/>
            <a:ext cx="1421892" cy="310896"/>
          </a:xfrm>
          <a:prstGeom prst="roundRect">
            <a:avLst>
              <a:gd name="adj" fmla="val 50000"/>
            </a:avLst>
          </a:prstGeom>
          <a:solidFill>
            <a:schemeClr val="tx1">
              <a:alpha val="0"/>
            </a:schemeClr>
          </a:solidFill>
          <a:ln w="15875">
            <a:solidFill>
              <a:schemeClr val="accent3"/>
            </a:solidFill>
            <a:prstDash val="solid"/>
          </a:ln>
        </p:spPr>
      </p:sp>
      <p:sp>
        <p:nvSpPr>
          <p:cNvPr id="18" name="Token chip 7 text"/>
          <p:cNvSpPr txBox="1"/>
          <p:nvPr/>
        </p:nvSpPr>
        <p:spPr>
          <a:xfrm>
            <a:off x="5760720" y="3675888"/>
            <a:ext cx="1421892" cy="310896"/>
          </a:xfrm>
          <a:prstGeom prst="rect">
            <a:avLst/>
          </a:prstGeom>
          <a:noFill/>
          <a:ln/>
        </p:spPr>
        <p:txBody>
          <a:bodyPr wrap="square" lIns="0" tIns="0" rIns="0" bIns="0" rtlCol="0" anchor="ctr"/>
          <a:lstStyle/>
          <a:p>
            <a:pPr algn="ctr" indent="0" marL="0">
              <a:buNone/>
            </a:pPr>
            <a:r>
              <a:rPr lang="en-US" sz="1200" b="1" dirty="0">
                <a:solidFill>
                  <a:schemeClr val="accent6"/>
                </a:solidFill>
                <a:latin typeface="Courier New" pitchFamily="34" charset="0"/>
                <a:ea typeface="Courier New" pitchFamily="34" charset="-122"/>
                <a:cs typeface="Courier New" pitchFamily="34" charset="-120"/>
              </a:rPr>
              <a:t>[CLINICIAN]</a:t>
            </a:r>
            <a:endParaRPr lang="en-US" sz="1200" dirty="0"/>
          </a:p>
        </p:txBody>
      </p:sp>
      <p:sp>
        <p:nvSpPr>
          <p:cNvPr id="19" name="Token chip 8"/>
          <p:cNvSpPr/>
          <p:nvPr/>
        </p:nvSpPr>
        <p:spPr>
          <a:xfrm>
            <a:off x="6903720" y="4151376"/>
            <a:ext cx="1037844" cy="310896"/>
          </a:xfrm>
          <a:prstGeom prst="roundRect">
            <a:avLst>
              <a:gd name="adj" fmla="val 50000"/>
            </a:avLst>
          </a:prstGeom>
          <a:solidFill>
            <a:schemeClr val="tx1">
              <a:alpha val="0"/>
            </a:schemeClr>
          </a:solidFill>
          <a:ln w="15875">
            <a:solidFill>
              <a:schemeClr val="accent3"/>
            </a:solidFill>
            <a:prstDash val="solid"/>
          </a:ln>
        </p:spPr>
      </p:sp>
      <p:sp>
        <p:nvSpPr>
          <p:cNvPr id="20" name="Token chip 8 text"/>
          <p:cNvSpPr txBox="1"/>
          <p:nvPr/>
        </p:nvSpPr>
        <p:spPr>
          <a:xfrm>
            <a:off x="6903720" y="4151376"/>
            <a:ext cx="1037844" cy="310896"/>
          </a:xfrm>
          <a:prstGeom prst="rect">
            <a:avLst/>
          </a:prstGeom>
          <a:noFill/>
          <a:ln/>
        </p:spPr>
        <p:txBody>
          <a:bodyPr wrap="square" lIns="0" tIns="0" rIns="0" bIns="0" rtlCol="0" anchor="ctr"/>
          <a:lstStyle/>
          <a:p>
            <a:pPr algn="ctr" indent="0" marL="0">
              <a:buNone/>
            </a:pPr>
            <a:r>
              <a:rPr lang="en-US" sz="1200" b="1" dirty="0">
                <a:solidFill>
                  <a:schemeClr val="accent6"/>
                </a:solidFill>
                <a:latin typeface="Courier New" pitchFamily="34" charset="0"/>
                <a:ea typeface="Courier New" pitchFamily="34" charset="-122"/>
                <a:cs typeface="Courier New" pitchFamily="34" charset="-120"/>
              </a:rPr>
              <a:t>2025-03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Cited answers without exposing patients</a:t>
            </a:r>
            <a:endParaRPr lang="en-US" sz="3000" dirty="0"/>
          </a:p>
        </p:txBody>
      </p:sp>
      <p:sp>
        <p:nvSpPr>
          <p:cNvPr id="3" name="Stat identifiers card"/>
          <p:cNvSpPr/>
          <p:nvPr/>
        </p:nvSpPr>
        <p:spPr>
          <a:xfrm>
            <a:off x="457200" y="1280160"/>
            <a:ext cx="2560320" cy="1417320"/>
          </a:xfrm>
          <a:prstGeom prst="roundRect">
            <a:avLst>
              <a:gd name="adj" fmla="val 5161"/>
            </a:avLst>
          </a:prstGeom>
          <a:solidFill>
            <a:schemeClr val="bg2"/>
          </a:solidFill>
          <a:ln w="12700">
            <a:solidFill>
              <a:schemeClr val="bg2"/>
            </a:solidFill>
            <a:prstDash val="solid"/>
          </a:ln>
        </p:spPr>
      </p:sp>
      <p:sp>
        <p:nvSpPr>
          <p:cNvPr id="4" name="Stat identifiers value"/>
          <p:cNvSpPr txBox="1"/>
          <p:nvPr/>
        </p:nvSpPr>
        <p:spPr>
          <a:xfrm>
            <a:off x="640080" y="1389888"/>
            <a:ext cx="219456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0</a:t>
            </a:r>
            <a:endParaRPr lang="en-US" sz="4000" dirty="0"/>
          </a:p>
        </p:txBody>
      </p:sp>
      <p:sp>
        <p:nvSpPr>
          <p:cNvPr id="5" name="Stat identifiers label"/>
          <p:cNvSpPr txBox="1"/>
          <p:nvPr/>
        </p:nvSpPr>
        <p:spPr>
          <a:xfrm>
            <a:off x="640080" y="2103120"/>
            <a:ext cx="2194560" cy="502920"/>
          </a:xfrm>
          <a:prstGeom prst="rect">
            <a:avLst/>
          </a:prstGeom>
          <a:noFill/>
          <a:ln/>
        </p:spPr>
        <p:txBody>
          <a:bodyPr wrap="square" lIns="0" tIns="0" rIns="0" bIns="0" rtlCol="0" anchor="t"/>
          <a:lstStyle/>
          <a:p>
            <a:pPr indent="0" marL="0">
              <a:buNone/>
            </a:pPr>
            <a:r>
              <a:rPr lang="en-US" sz="1400" dirty="0">
                <a:solidFill>
                  <a:schemeClr val="tx1"/>
                </a:solidFill>
              </a:rPr>
              <a:t>identifiers found in prompts, answers, logs or metrics</a:t>
            </a:r>
            <a:endParaRPr lang="en-US" sz="1400" dirty="0"/>
          </a:p>
        </p:txBody>
      </p:sp>
      <p:sp>
        <p:nvSpPr>
          <p:cNvPr id="6" name="Stat tests card"/>
          <p:cNvSpPr/>
          <p:nvPr/>
        </p:nvSpPr>
        <p:spPr>
          <a:xfrm>
            <a:off x="3291840" y="1280160"/>
            <a:ext cx="2560320" cy="1417320"/>
          </a:xfrm>
          <a:prstGeom prst="roundRect">
            <a:avLst>
              <a:gd name="adj" fmla="val 5161"/>
            </a:avLst>
          </a:prstGeom>
          <a:solidFill>
            <a:schemeClr val="bg2"/>
          </a:solidFill>
          <a:ln w="12700">
            <a:solidFill>
              <a:schemeClr val="bg2"/>
            </a:solidFill>
            <a:prstDash val="solid"/>
          </a:ln>
        </p:spPr>
      </p:sp>
      <p:sp>
        <p:nvSpPr>
          <p:cNvPr id="7" name="Stat tests value"/>
          <p:cNvSpPr txBox="1"/>
          <p:nvPr/>
        </p:nvSpPr>
        <p:spPr>
          <a:xfrm>
            <a:off x="3474720" y="1389888"/>
            <a:ext cx="219456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82</a:t>
            </a:r>
            <a:endParaRPr lang="en-US" sz="4000" dirty="0"/>
          </a:p>
        </p:txBody>
      </p:sp>
      <p:sp>
        <p:nvSpPr>
          <p:cNvPr id="8" name="Stat tests label"/>
          <p:cNvSpPr txBox="1"/>
          <p:nvPr/>
        </p:nvSpPr>
        <p:spPr>
          <a:xfrm>
            <a:off x="3474720" y="2103120"/>
            <a:ext cx="2194560" cy="502920"/>
          </a:xfrm>
          <a:prstGeom prst="rect">
            <a:avLst/>
          </a:prstGeom>
          <a:noFill/>
          <a:ln/>
        </p:spPr>
        <p:txBody>
          <a:bodyPr wrap="square" lIns="0" tIns="0" rIns="0" bIns="0" rtlCol="0" anchor="t"/>
          <a:lstStyle/>
          <a:p>
            <a:pPr indent="0" marL="0">
              <a:buNone/>
            </a:pPr>
            <a:r>
              <a:rPr lang="en-US" sz="1400" dirty="0">
                <a:solidFill>
                  <a:schemeClr val="tx1"/>
                </a:solidFill>
              </a:rPr>
              <a:t>automated tests passing</a:t>
            </a:r>
            <a:endParaRPr lang="en-US" sz="1400" dirty="0"/>
          </a:p>
        </p:txBody>
      </p:sp>
      <p:sp>
        <p:nvSpPr>
          <p:cNvPr id="9" name="Stat attacks card"/>
          <p:cNvSpPr/>
          <p:nvPr/>
        </p:nvSpPr>
        <p:spPr>
          <a:xfrm>
            <a:off x="6126480" y="1280160"/>
            <a:ext cx="2560320" cy="1417320"/>
          </a:xfrm>
          <a:prstGeom prst="roundRect">
            <a:avLst>
              <a:gd name="adj" fmla="val 5161"/>
            </a:avLst>
          </a:prstGeom>
          <a:solidFill>
            <a:schemeClr val="bg2"/>
          </a:solidFill>
          <a:ln w="12700">
            <a:solidFill>
              <a:schemeClr val="bg2"/>
            </a:solidFill>
            <a:prstDash val="solid"/>
          </a:ln>
        </p:spPr>
      </p:sp>
      <p:sp>
        <p:nvSpPr>
          <p:cNvPr id="10" name="Stat attacks value"/>
          <p:cNvSpPr txBox="1"/>
          <p:nvPr/>
        </p:nvSpPr>
        <p:spPr>
          <a:xfrm>
            <a:off x="6309360" y="1389888"/>
            <a:ext cx="219456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38 / 38</a:t>
            </a:r>
            <a:endParaRPr lang="en-US" sz="4000" dirty="0"/>
          </a:p>
        </p:txBody>
      </p:sp>
      <p:sp>
        <p:nvSpPr>
          <p:cNvPr id="11" name="Stat attacks label"/>
          <p:cNvSpPr txBox="1"/>
          <p:nvPr/>
        </p:nvSpPr>
        <p:spPr>
          <a:xfrm>
            <a:off x="6309360" y="2103120"/>
            <a:ext cx="2194560" cy="502920"/>
          </a:xfrm>
          <a:prstGeom prst="rect">
            <a:avLst/>
          </a:prstGeom>
          <a:noFill/>
          <a:ln/>
        </p:spPr>
        <p:txBody>
          <a:bodyPr wrap="square" lIns="0" tIns="0" rIns="0" bIns="0" rtlCol="0" anchor="t"/>
          <a:lstStyle/>
          <a:p>
            <a:pPr indent="0" marL="0">
              <a:buNone/>
            </a:pPr>
            <a:r>
              <a:rPr lang="en-US" sz="1400" dirty="0">
                <a:solidFill>
                  <a:schemeClr val="tx1"/>
                </a:solidFill>
              </a:rPr>
              <a:t>attack and privacy cases passed against the live API</a:t>
            </a:r>
            <a:endParaRPr lang="en-US" sz="1400" dirty="0"/>
          </a:p>
        </p:txBody>
      </p:sp>
      <p:sp>
        <p:nvSpPr>
          <p:cNvPr id="12" name="Summary sentence"/>
          <p:cNvSpPr txBox="1"/>
          <p:nvPr/>
        </p:nvSpPr>
        <p:spPr>
          <a:xfrm>
            <a:off x="457200" y="3063240"/>
            <a:ext cx="8229600" cy="731520"/>
          </a:xfrm>
          <a:prstGeom prst="rect">
            <a:avLst/>
          </a:prstGeom>
          <a:noFill/>
          <a:ln/>
        </p:spPr>
        <p:txBody>
          <a:bodyPr wrap="square" lIns="0" tIns="0" rIns="0" bIns="0" rtlCol="0" anchor="t"/>
          <a:lstStyle/>
          <a:p>
            <a:pPr indent="0" marL="0">
              <a:buNone/>
            </a:pPr>
            <a:r>
              <a:rPr lang="en-US" sz="1800" dirty="0">
                <a:solidFill>
                  <a:schemeClr val="tx1"/>
                </a:solidFill>
              </a:rPr>
              <a:t>Staff ask policy questions. ragkit masks identifiers, de-identifies clinical reports, answers with citations, and declines medical advice.</a:t>
            </a:r>
            <a:endParaRPr lang="en-US" sz="1800" dirty="0"/>
          </a:p>
        </p:txBody>
      </p:sp>
      <p:sp>
        <p:nvSpPr>
          <p:cNvPr id="13" name="Data note"/>
          <p:cNvSpPr txBox="1"/>
          <p:nvPr/>
        </p:nvSpPr>
        <p:spPr>
          <a:xfrm>
            <a:off x="457200" y="4023360"/>
            <a:ext cx="8229600" cy="457200"/>
          </a:xfrm>
          <a:prstGeom prst="rect">
            <a:avLst/>
          </a:prstGeom>
          <a:noFill/>
          <a:ln/>
        </p:spPr>
        <p:txBody>
          <a:bodyPr wrap="square" lIns="0" tIns="0" rIns="0" bIns="0" rtlCol="0" anchor="t"/>
          <a:lstStyle/>
          <a:p>
            <a:pPr indent="0" marL="0">
              <a:buNone/>
            </a:pPr>
            <a:r>
              <a:rPr lang="en-US" sz="1400" i="1" dirty="0">
                <a:solidFill>
                  <a:schemeClr val="accent5"/>
                </a:solidFill>
              </a:rPr>
              <a:t>Synthetic data throughout. Every figure in this deck comes from a test or measurement run for this project.</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How a question travels</a:t>
            </a:r>
            <a:endParaRPr lang="en-US" sz="3000" dirty="0"/>
          </a:p>
        </p:txBody>
      </p:sp>
      <p:sp>
        <p:nvSpPr>
          <p:cNvPr id="3" name="Step card 1"/>
          <p:cNvSpPr/>
          <p:nvPr/>
        </p:nvSpPr>
        <p:spPr>
          <a:xfrm>
            <a:off x="457200" y="1234440"/>
            <a:ext cx="2651760" cy="1444752"/>
          </a:xfrm>
          <a:prstGeom prst="roundRect">
            <a:avLst>
              <a:gd name="adj" fmla="val 5063"/>
            </a:avLst>
          </a:prstGeom>
          <a:solidFill>
            <a:schemeClr val="bg2"/>
          </a:solidFill>
          <a:ln w="12700">
            <a:solidFill>
              <a:schemeClr val="bg2"/>
            </a:solidFill>
            <a:prstDash val="solid"/>
          </a:ln>
        </p:spPr>
      </p:sp>
      <p:sp>
        <p:nvSpPr>
          <p:cNvPr id="4" name="Step badge 1"/>
          <p:cNvSpPr/>
          <p:nvPr/>
        </p:nvSpPr>
        <p:spPr>
          <a:xfrm>
            <a:off x="621792" y="1389888"/>
            <a:ext cx="329184" cy="329184"/>
          </a:xfrm>
          <a:prstGeom prst="ellipse">
            <a:avLst/>
          </a:prstGeom>
          <a:solidFill>
            <a:schemeClr val="accent1"/>
          </a:solidFill>
          <a:ln w="12700">
            <a:solidFill>
              <a:schemeClr val="accent1"/>
            </a:solidFill>
            <a:prstDash val="solid"/>
          </a:ln>
        </p:spPr>
      </p:sp>
      <p:sp>
        <p:nvSpPr>
          <p:cNvPr id="5" name="Step number 1"/>
          <p:cNvSpPr txBox="1"/>
          <p:nvPr/>
        </p:nvSpPr>
        <p:spPr>
          <a:xfrm>
            <a:off x="621792" y="1389888"/>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Step title 1"/>
          <p:cNvSpPr txBox="1"/>
          <p:nvPr/>
        </p:nvSpPr>
        <p:spPr>
          <a:xfrm>
            <a:off x="1051560" y="1371600"/>
            <a:ext cx="1920240" cy="365760"/>
          </a:xfrm>
          <a:prstGeom prst="rect">
            <a:avLst/>
          </a:prstGeom>
          <a:noFill/>
          <a:ln/>
        </p:spPr>
        <p:txBody>
          <a:bodyPr wrap="square" lIns="0" tIns="0" rIns="0" bIns="0" rtlCol="0" anchor="ctr"/>
          <a:lstStyle/>
          <a:p>
            <a:pPr indent="0" marL="0">
              <a:buNone/>
            </a:pPr>
            <a:r>
              <a:rPr lang="en-US" sz="1600" b="1" dirty="0">
                <a:solidFill>
                  <a:schemeClr val="tx1"/>
                </a:solidFill>
              </a:rPr>
              <a:t>Guard the input</a:t>
            </a:r>
            <a:endParaRPr lang="en-US" sz="1600" dirty="0"/>
          </a:p>
        </p:txBody>
      </p:sp>
      <p:sp>
        <p:nvSpPr>
          <p:cNvPr id="7" name="Step text 1"/>
          <p:cNvSpPr txBox="1"/>
          <p:nvPr/>
        </p:nvSpPr>
        <p:spPr>
          <a:xfrm>
            <a:off x="621792" y="1837944"/>
            <a:ext cx="2331720" cy="777240"/>
          </a:xfrm>
          <a:prstGeom prst="rect">
            <a:avLst/>
          </a:prstGeom>
          <a:noFill/>
          <a:ln/>
        </p:spPr>
        <p:txBody>
          <a:bodyPr wrap="square" lIns="0" tIns="0" rIns="0" bIns="0" rtlCol="0" anchor="t"/>
          <a:lstStyle/>
          <a:p>
            <a:pPr indent="0" marL="0">
              <a:buNone/>
            </a:pPr>
            <a:r>
              <a:rPr lang="en-US" sz="1400" dirty="0">
                <a:solidFill>
                  <a:schemeClr val="tx1"/>
                </a:solidFill>
              </a:rPr>
              <a:t>Blocks injection, exfiltration and requests for medical advice.</a:t>
            </a:r>
            <a:endParaRPr lang="en-US" sz="1400" dirty="0"/>
          </a:p>
        </p:txBody>
      </p:sp>
      <p:sp>
        <p:nvSpPr>
          <p:cNvPr id="8" name="Step card 2"/>
          <p:cNvSpPr/>
          <p:nvPr/>
        </p:nvSpPr>
        <p:spPr>
          <a:xfrm>
            <a:off x="3246120" y="1234440"/>
            <a:ext cx="2651760" cy="1444752"/>
          </a:xfrm>
          <a:prstGeom prst="roundRect">
            <a:avLst>
              <a:gd name="adj" fmla="val 5063"/>
            </a:avLst>
          </a:prstGeom>
          <a:solidFill>
            <a:schemeClr val="bg2"/>
          </a:solidFill>
          <a:ln w="12700">
            <a:solidFill>
              <a:schemeClr val="bg2"/>
            </a:solidFill>
            <a:prstDash val="solid"/>
          </a:ln>
        </p:spPr>
      </p:sp>
      <p:sp>
        <p:nvSpPr>
          <p:cNvPr id="9" name="Step badge 2"/>
          <p:cNvSpPr/>
          <p:nvPr/>
        </p:nvSpPr>
        <p:spPr>
          <a:xfrm>
            <a:off x="3410712" y="1389888"/>
            <a:ext cx="329184" cy="329184"/>
          </a:xfrm>
          <a:prstGeom prst="ellipse">
            <a:avLst/>
          </a:prstGeom>
          <a:solidFill>
            <a:schemeClr val="accent1"/>
          </a:solidFill>
          <a:ln w="12700">
            <a:solidFill>
              <a:schemeClr val="accent1"/>
            </a:solidFill>
            <a:prstDash val="solid"/>
          </a:ln>
        </p:spPr>
      </p:sp>
      <p:sp>
        <p:nvSpPr>
          <p:cNvPr id="10" name="Step number 2"/>
          <p:cNvSpPr txBox="1"/>
          <p:nvPr/>
        </p:nvSpPr>
        <p:spPr>
          <a:xfrm>
            <a:off x="3410712" y="1389888"/>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Step title 2"/>
          <p:cNvSpPr txBox="1"/>
          <p:nvPr/>
        </p:nvSpPr>
        <p:spPr>
          <a:xfrm>
            <a:off x="3840480" y="1371600"/>
            <a:ext cx="1920240" cy="365760"/>
          </a:xfrm>
          <a:prstGeom prst="rect">
            <a:avLst/>
          </a:prstGeom>
          <a:noFill/>
          <a:ln/>
        </p:spPr>
        <p:txBody>
          <a:bodyPr wrap="square" lIns="0" tIns="0" rIns="0" bIns="0" rtlCol="0" anchor="ctr"/>
          <a:lstStyle/>
          <a:p>
            <a:pPr indent="0" marL="0">
              <a:buNone/>
            </a:pPr>
            <a:r>
              <a:rPr lang="en-US" sz="1600" b="1" dirty="0">
                <a:solidFill>
                  <a:schemeClr val="tx1"/>
                </a:solidFill>
              </a:rPr>
              <a:t>Mask identifiers</a:t>
            </a:r>
            <a:endParaRPr lang="en-US" sz="1600" dirty="0"/>
          </a:p>
        </p:txBody>
      </p:sp>
      <p:sp>
        <p:nvSpPr>
          <p:cNvPr id="12" name="Step text 2"/>
          <p:cNvSpPr txBox="1"/>
          <p:nvPr/>
        </p:nvSpPr>
        <p:spPr>
          <a:xfrm>
            <a:off x="3410712" y="1837944"/>
            <a:ext cx="2331720" cy="777240"/>
          </a:xfrm>
          <a:prstGeom prst="rect">
            <a:avLst/>
          </a:prstGeom>
          <a:noFill/>
          <a:ln/>
        </p:spPr>
        <p:txBody>
          <a:bodyPr wrap="square" lIns="0" tIns="0" rIns="0" bIns="0" rtlCol="0" anchor="t"/>
          <a:lstStyle/>
          <a:p>
            <a:pPr indent="0" marL="0">
              <a:buNone/>
            </a:pPr>
            <a:r>
              <a:rPr lang="en-US" sz="1400" dirty="0">
                <a:solidFill>
                  <a:schemeClr val="tx1"/>
                </a:solidFill>
              </a:rPr>
              <a:t>Names, IDs and contacts become keyed tokens.</a:t>
            </a:r>
            <a:endParaRPr lang="en-US" sz="1400" dirty="0"/>
          </a:p>
        </p:txBody>
      </p:sp>
      <p:sp>
        <p:nvSpPr>
          <p:cNvPr id="13" name="Step card 3"/>
          <p:cNvSpPr/>
          <p:nvPr/>
        </p:nvSpPr>
        <p:spPr>
          <a:xfrm>
            <a:off x="6035040" y="1234440"/>
            <a:ext cx="2651760" cy="1444752"/>
          </a:xfrm>
          <a:prstGeom prst="roundRect">
            <a:avLst>
              <a:gd name="adj" fmla="val 5063"/>
            </a:avLst>
          </a:prstGeom>
          <a:solidFill>
            <a:schemeClr val="bg2"/>
          </a:solidFill>
          <a:ln w="12700">
            <a:solidFill>
              <a:schemeClr val="bg2"/>
            </a:solidFill>
            <a:prstDash val="solid"/>
          </a:ln>
        </p:spPr>
      </p:sp>
      <p:sp>
        <p:nvSpPr>
          <p:cNvPr id="14" name="Step badge 3"/>
          <p:cNvSpPr/>
          <p:nvPr/>
        </p:nvSpPr>
        <p:spPr>
          <a:xfrm>
            <a:off x="6199632" y="1389888"/>
            <a:ext cx="329184" cy="329184"/>
          </a:xfrm>
          <a:prstGeom prst="ellipse">
            <a:avLst/>
          </a:prstGeom>
          <a:solidFill>
            <a:schemeClr val="accent1"/>
          </a:solidFill>
          <a:ln w="12700">
            <a:solidFill>
              <a:schemeClr val="accent1"/>
            </a:solidFill>
            <a:prstDash val="solid"/>
          </a:ln>
        </p:spPr>
      </p:sp>
      <p:sp>
        <p:nvSpPr>
          <p:cNvPr id="15" name="Step number 3"/>
          <p:cNvSpPr txBox="1"/>
          <p:nvPr/>
        </p:nvSpPr>
        <p:spPr>
          <a:xfrm>
            <a:off x="6199632" y="1389888"/>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Step title 3"/>
          <p:cNvSpPr txBox="1"/>
          <p:nvPr/>
        </p:nvSpPr>
        <p:spPr>
          <a:xfrm>
            <a:off x="6629400" y="1371600"/>
            <a:ext cx="1920240" cy="365760"/>
          </a:xfrm>
          <a:prstGeom prst="rect">
            <a:avLst/>
          </a:prstGeom>
          <a:noFill/>
          <a:ln/>
        </p:spPr>
        <p:txBody>
          <a:bodyPr wrap="square" lIns="0" tIns="0" rIns="0" bIns="0" rtlCol="0" anchor="ctr"/>
          <a:lstStyle/>
          <a:p>
            <a:pPr indent="0" marL="0">
              <a:buNone/>
            </a:pPr>
            <a:r>
              <a:rPr lang="en-US" sz="1600" b="1" dirty="0">
                <a:solidFill>
                  <a:schemeClr val="tx1"/>
                </a:solidFill>
              </a:rPr>
              <a:t>Retrieve and rank</a:t>
            </a:r>
            <a:endParaRPr lang="en-US" sz="1600" dirty="0"/>
          </a:p>
        </p:txBody>
      </p:sp>
      <p:sp>
        <p:nvSpPr>
          <p:cNvPr id="17" name="Step text 3"/>
          <p:cNvSpPr txBox="1"/>
          <p:nvPr/>
        </p:nvSpPr>
        <p:spPr>
          <a:xfrm>
            <a:off x="6199632" y="1837944"/>
            <a:ext cx="2331720" cy="777240"/>
          </a:xfrm>
          <a:prstGeom prst="rect">
            <a:avLst/>
          </a:prstGeom>
          <a:noFill/>
          <a:ln/>
        </p:spPr>
        <p:txBody>
          <a:bodyPr wrap="square" lIns="0" tIns="0" rIns="0" bIns="0" rtlCol="0" anchor="t"/>
          <a:lstStyle/>
          <a:p>
            <a:pPr indent="0" marL="0">
              <a:buNone/>
            </a:pPr>
            <a:r>
              <a:rPr lang="en-US" sz="1400" dirty="0">
                <a:solidFill>
                  <a:schemeClr val="tx1"/>
                </a:solidFill>
              </a:rPr>
              <a:t>Keyword and embedding search, fused, then re-ranked.</a:t>
            </a:r>
            <a:endParaRPr lang="en-US" sz="1400" dirty="0"/>
          </a:p>
        </p:txBody>
      </p:sp>
      <p:sp>
        <p:nvSpPr>
          <p:cNvPr id="18" name="Step card 4"/>
          <p:cNvSpPr/>
          <p:nvPr/>
        </p:nvSpPr>
        <p:spPr>
          <a:xfrm>
            <a:off x="457200" y="2807208"/>
            <a:ext cx="2651760" cy="1444752"/>
          </a:xfrm>
          <a:prstGeom prst="roundRect">
            <a:avLst>
              <a:gd name="adj" fmla="val 5063"/>
            </a:avLst>
          </a:prstGeom>
          <a:solidFill>
            <a:schemeClr val="bg2"/>
          </a:solidFill>
          <a:ln w="12700">
            <a:solidFill>
              <a:schemeClr val="bg2"/>
            </a:solidFill>
            <a:prstDash val="solid"/>
          </a:ln>
        </p:spPr>
      </p:sp>
      <p:sp>
        <p:nvSpPr>
          <p:cNvPr id="19" name="Step badge 4"/>
          <p:cNvSpPr/>
          <p:nvPr/>
        </p:nvSpPr>
        <p:spPr>
          <a:xfrm>
            <a:off x="621792" y="2962656"/>
            <a:ext cx="329184" cy="329184"/>
          </a:xfrm>
          <a:prstGeom prst="ellipse">
            <a:avLst/>
          </a:prstGeom>
          <a:solidFill>
            <a:schemeClr val="accent1"/>
          </a:solidFill>
          <a:ln w="12700">
            <a:solidFill>
              <a:schemeClr val="accent1"/>
            </a:solidFill>
            <a:prstDash val="solid"/>
          </a:ln>
        </p:spPr>
      </p:sp>
      <p:sp>
        <p:nvSpPr>
          <p:cNvPr id="20" name="Step number 4"/>
          <p:cNvSpPr txBox="1"/>
          <p:nvPr/>
        </p:nvSpPr>
        <p:spPr>
          <a:xfrm>
            <a:off x="621792" y="2962656"/>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Step title 4"/>
          <p:cNvSpPr txBox="1"/>
          <p:nvPr/>
        </p:nvSpPr>
        <p:spPr>
          <a:xfrm>
            <a:off x="1051560" y="2944368"/>
            <a:ext cx="1920240" cy="365760"/>
          </a:xfrm>
          <a:prstGeom prst="rect">
            <a:avLst/>
          </a:prstGeom>
          <a:noFill/>
          <a:ln/>
        </p:spPr>
        <p:txBody>
          <a:bodyPr wrap="square" lIns="0" tIns="0" rIns="0" bIns="0" rtlCol="0" anchor="ctr"/>
          <a:lstStyle/>
          <a:p>
            <a:pPr indent="0" marL="0">
              <a:buNone/>
            </a:pPr>
            <a:r>
              <a:rPr lang="en-US" sz="1600" b="1" dirty="0">
                <a:solidFill>
                  <a:schemeClr val="tx1"/>
                </a:solidFill>
              </a:rPr>
              <a:t>Send the minimum</a:t>
            </a:r>
            <a:endParaRPr lang="en-US" sz="1600" dirty="0"/>
          </a:p>
        </p:txBody>
      </p:sp>
      <p:sp>
        <p:nvSpPr>
          <p:cNvPr id="22" name="Step text 4"/>
          <p:cNvSpPr txBox="1"/>
          <p:nvPr/>
        </p:nvSpPr>
        <p:spPr>
          <a:xfrm>
            <a:off x="621792" y="3410712"/>
            <a:ext cx="2331720" cy="777240"/>
          </a:xfrm>
          <a:prstGeom prst="rect">
            <a:avLst/>
          </a:prstGeom>
          <a:noFill/>
          <a:ln/>
        </p:spPr>
        <p:txBody>
          <a:bodyPr wrap="square" lIns="0" tIns="0" rIns="0" bIns="0" rtlCol="0" anchor="t"/>
          <a:lstStyle/>
          <a:p>
            <a:pPr indent="0" marL="0">
              <a:buNone/>
            </a:pPr>
            <a:r>
              <a:rPr lang="en-US" sz="1400" dirty="0">
                <a:solidFill>
                  <a:schemeClr val="tx1"/>
                </a:solidFill>
              </a:rPr>
              <a:t>A few short chunks. A re-scan for identifiers fails closed.</a:t>
            </a:r>
            <a:endParaRPr lang="en-US" sz="1400" dirty="0"/>
          </a:p>
        </p:txBody>
      </p:sp>
      <p:sp>
        <p:nvSpPr>
          <p:cNvPr id="23" name="Step card 5"/>
          <p:cNvSpPr/>
          <p:nvPr/>
        </p:nvSpPr>
        <p:spPr>
          <a:xfrm>
            <a:off x="3246120" y="2807208"/>
            <a:ext cx="2651760" cy="1444752"/>
          </a:xfrm>
          <a:prstGeom prst="roundRect">
            <a:avLst>
              <a:gd name="adj" fmla="val 5063"/>
            </a:avLst>
          </a:prstGeom>
          <a:solidFill>
            <a:schemeClr val="bg2"/>
          </a:solidFill>
          <a:ln w="12700">
            <a:solidFill>
              <a:schemeClr val="bg2"/>
            </a:solidFill>
            <a:prstDash val="solid"/>
          </a:ln>
        </p:spPr>
      </p:sp>
      <p:sp>
        <p:nvSpPr>
          <p:cNvPr id="24" name="Step badge 5"/>
          <p:cNvSpPr/>
          <p:nvPr/>
        </p:nvSpPr>
        <p:spPr>
          <a:xfrm>
            <a:off x="3410712" y="2962656"/>
            <a:ext cx="329184" cy="329184"/>
          </a:xfrm>
          <a:prstGeom prst="ellipse">
            <a:avLst/>
          </a:prstGeom>
          <a:solidFill>
            <a:schemeClr val="accent1"/>
          </a:solidFill>
          <a:ln w="12700">
            <a:solidFill>
              <a:schemeClr val="accent1"/>
            </a:solidFill>
            <a:prstDash val="solid"/>
          </a:ln>
        </p:spPr>
      </p:sp>
      <p:sp>
        <p:nvSpPr>
          <p:cNvPr id="25" name="Step number 5"/>
          <p:cNvSpPr txBox="1"/>
          <p:nvPr/>
        </p:nvSpPr>
        <p:spPr>
          <a:xfrm>
            <a:off x="3410712" y="2962656"/>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6" name="Step title 5"/>
          <p:cNvSpPr txBox="1"/>
          <p:nvPr/>
        </p:nvSpPr>
        <p:spPr>
          <a:xfrm>
            <a:off x="3840480" y="2944368"/>
            <a:ext cx="1920240" cy="365760"/>
          </a:xfrm>
          <a:prstGeom prst="rect">
            <a:avLst/>
          </a:prstGeom>
          <a:noFill/>
          <a:ln/>
        </p:spPr>
        <p:txBody>
          <a:bodyPr wrap="square" lIns="0" tIns="0" rIns="0" bIns="0" rtlCol="0" anchor="ctr"/>
          <a:lstStyle/>
          <a:p>
            <a:pPr indent="0" marL="0">
              <a:buNone/>
            </a:pPr>
            <a:r>
              <a:rPr lang="en-US" sz="1600" b="1" dirty="0">
                <a:solidFill>
                  <a:schemeClr val="tx1"/>
                </a:solidFill>
              </a:rPr>
              <a:t>Answer and cite</a:t>
            </a:r>
            <a:endParaRPr lang="en-US" sz="1600" dirty="0"/>
          </a:p>
        </p:txBody>
      </p:sp>
      <p:sp>
        <p:nvSpPr>
          <p:cNvPr id="27" name="Step text 5"/>
          <p:cNvSpPr txBox="1"/>
          <p:nvPr/>
        </p:nvSpPr>
        <p:spPr>
          <a:xfrm>
            <a:off x="3410712" y="3410712"/>
            <a:ext cx="2331720" cy="777240"/>
          </a:xfrm>
          <a:prstGeom prst="rect">
            <a:avLst/>
          </a:prstGeom>
          <a:noFill/>
          <a:ln/>
        </p:spPr>
        <p:txBody>
          <a:bodyPr wrap="square" lIns="0" tIns="0" rIns="0" bIns="0" rtlCol="0" anchor="t"/>
          <a:lstStyle/>
          <a:p>
            <a:pPr indent="0" marL="0">
              <a:buNone/>
            </a:pPr>
            <a:r>
              <a:rPr lang="en-US" sz="1400" dirty="0">
                <a:solidFill>
                  <a:schemeClr val="tx1"/>
                </a:solidFill>
              </a:rPr>
              <a:t>Answers only from context; reports never attach to named people.</a:t>
            </a:r>
            <a:endParaRPr lang="en-US" sz="1400" dirty="0"/>
          </a:p>
        </p:txBody>
      </p:sp>
      <p:sp>
        <p:nvSpPr>
          <p:cNvPr id="28" name="Step card 6"/>
          <p:cNvSpPr/>
          <p:nvPr/>
        </p:nvSpPr>
        <p:spPr>
          <a:xfrm>
            <a:off x="6035040" y="2807208"/>
            <a:ext cx="2651760" cy="1444752"/>
          </a:xfrm>
          <a:prstGeom prst="roundRect">
            <a:avLst>
              <a:gd name="adj" fmla="val 5063"/>
            </a:avLst>
          </a:prstGeom>
          <a:solidFill>
            <a:schemeClr val="bg2"/>
          </a:solidFill>
          <a:ln w="12700">
            <a:solidFill>
              <a:schemeClr val="bg2"/>
            </a:solidFill>
            <a:prstDash val="solid"/>
          </a:ln>
        </p:spPr>
      </p:sp>
      <p:sp>
        <p:nvSpPr>
          <p:cNvPr id="29" name="Step badge 6"/>
          <p:cNvSpPr/>
          <p:nvPr/>
        </p:nvSpPr>
        <p:spPr>
          <a:xfrm>
            <a:off x="6199632" y="2962656"/>
            <a:ext cx="329184" cy="329184"/>
          </a:xfrm>
          <a:prstGeom prst="ellipse">
            <a:avLst/>
          </a:prstGeom>
          <a:solidFill>
            <a:schemeClr val="accent1"/>
          </a:solidFill>
          <a:ln w="12700">
            <a:solidFill>
              <a:schemeClr val="accent1"/>
            </a:solidFill>
            <a:prstDash val="solid"/>
          </a:ln>
        </p:spPr>
      </p:sp>
      <p:sp>
        <p:nvSpPr>
          <p:cNvPr id="30" name="Step number 6"/>
          <p:cNvSpPr txBox="1"/>
          <p:nvPr/>
        </p:nvSpPr>
        <p:spPr>
          <a:xfrm>
            <a:off x="6199632" y="2962656"/>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1" name="Step title 6"/>
          <p:cNvSpPr txBox="1"/>
          <p:nvPr/>
        </p:nvSpPr>
        <p:spPr>
          <a:xfrm>
            <a:off x="6629400" y="2944368"/>
            <a:ext cx="1920240" cy="365760"/>
          </a:xfrm>
          <a:prstGeom prst="rect">
            <a:avLst/>
          </a:prstGeom>
          <a:noFill/>
          <a:ln/>
        </p:spPr>
        <p:txBody>
          <a:bodyPr wrap="square" lIns="0" tIns="0" rIns="0" bIns="0" rtlCol="0" anchor="ctr"/>
          <a:lstStyle/>
          <a:p>
            <a:pPr indent="0" marL="0">
              <a:buNone/>
            </a:pPr>
            <a:r>
              <a:rPr lang="en-US" sz="1600" b="1" dirty="0">
                <a:solidFill>
                  <a:schemeClr val="tx1"/>
                </a:solidFill>
              </a:rPr>
              <a:t>Verify the output</a:t>
            </a:r>
            <a:endParaRPr lang="en-US" sz="1600" dirty="0"/>
          </a:p>
        </p:txBody>
      </p:sp>
      <p:sp>
        <p:nvSpPr>
          <p:cNvPr id="32" name="Step text 6"/>
          <p:cNvSpPr txBox="1"/>
          <p:nvPr/>
        </p:nvSpPr>
        <p:spPr>
          <a:xfrm>
            <a:off x="6199632" y="3410712"/>
            <a:ext cx="2331720" cy="777240"/>
          </a:xfrm>
          <a:prstGeom prst="rect">
            <a:avLst/>
          </a:prstGeom>
          <a:noFill/>
          <a:ln/>
        </p:spPr>
        <p:txBody>
          <a:bodyPr wrap="square" lIns="0" tIns="0" rIns="0" bIns="0" rtlCol="0" anchor="t"/>
          <a:lstStyle/>
          <a:p>
            <a:pPr indent="0" marL="0">
              <a:buNone/>
            </a:pPr>
            <a:r>
              <a:rPr lang="en-US" sz="1400" dirty="0">
                <a:solidFill>
                  <a:schemeClr val="tx1"/>
                </a:solidFill>
              </a:rPr>
              <a:t>Blocks leaks and bad citations; restores only what the user typed.</a:t>
            </a:r>
            <a:endParaRPr lang="en-US" sz="1400" dirty="0"/>
          </a:p>
        </p:txBody>
      </p:sp>
      <p:sp>
        <p:nvSpPr>
          <p:cNvPr id="33" name="Foundation strip"/>
          <p:cNvSpPr/>
          <p:nvPr/>
        </p:nvSpPr>
        <p:spPr>
          <a:xfrm>
            <a:off x="457200" y="4389120"/>
            <a:ext cx="8229600" cy="347472"/>
          </a:xfrm>
          <a:prstGeom prst="roundRect">
            <a:avLst>
              <a:gd name="adj" fmla="val 21053"/>
            </a:avLst>
          </a:prstGeom>
          <a:solidFill>
            <a:schemeClr val="tx2"/>
          </a:solidFill>
          <a:ln w="12700">
            <a:solidFill>
              <a:schemeClr val="tx2"/>
            </a:solidFill>
            <a:prstDash val="solid"/>
          </a:ln>
        </p:spPr>
      </p:sp>
      <p:sp>
        <p:nvSpPr>
          <p:cNvPr id="34" name="Foundation text"/>
          <p:cNvSpPr txBox="1"/>
          <p:nvPr/>
        </p:nvSpPr>
        <p:spPr>
          <a:xfrm>
            <a:off x="640080" y="4389120"/>
            <a:ext cx="7863840" cy="347472"/>
          </a:xfrm>
          <a:prstGeom prst="rect">
            <a:avLst/>
          </a:prstGeom>
          <a:noFill/>
          <a:ln/>
        </p:spPr>
        <p:txBody>
          <a:bodyPr wrap="square" lIns="0" tIns="0" rIns="0" bIns="0" rtlCol="0" anchor="ctr"/>
          <a:lstStyle/>
          <a:p>
            <a:pPr indent="0" marL="0">
              <a:buNone/>
            </a:pPr>
            <a:r>
              <a:rPr lang="en-US" sz="1400" dirty="0">
                <a:solidFill>
                  <a:schemeClr val="bg1"/>
                </a:solidFill>
              </a:rPr>
              <a:t>Built on an identifier-free index. Every stage is traced; telemetry holds no text.</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Two privacy tools, used on purpose</a:t>
            </a:r>
            <a:endParaRPr lang="en-US" sz="3000" dirty="0"/>
          </a:p>
        </p:txBody>
      </p:sp>
      <p:sp>
        <p:nvSpPr>
          <p:cNvPr id="3" name="Pseudonymisation card"/>
          <p:cNvSpPr/>
          <p:nvPr/>
        </p:nvSpPr>
        <p:spPr>
          <a:xfrm>
            <a:off x="457200" y="1234440"/>
            <a:ext cx="4023360" cy="3429000"/>
          </a:xfrm>
          <a:prstGeom prst="roundRect">
            <a:avLst>
              <a:gd name="adj" fmla="val 2133"/>
            </a:avLst>
          </a:prstGeom>
          <a:solidFill>
            <a:schemeClr val="bg2"/>
          </a:solidFill>
          <a:ln w="12700">
            <a:solidFill>
              <a:schemeClr val="bg2"/>
            </a:solidFill>
            <a:prstDash val="solid"/>
          </a:ln>
        </p:spPr>
      </p:sp>
      <p:sp>
        <p:nvSpPr>
          <p:cNvPr id="4" name="Pseudonymisation heading"/>
          <p:cNvSpPr txBox="1"/>
          <p:nvPr/>
        </p:nvSpPr>
        <p:spPr>
          <a:xfrm>
            <a:off x="731520" y="1371600"/>
            <a:ext cx="3474720" cy="41148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Pseudonymisation</a:t>
            </a:r>
            <a:endParaRPr lang="en-US" sz="2200" dirty="0"/>
          </a:p>
        </p:txBody>
      </p:sp>
      <p:sp>
        <p:nvSpPr>
          <p:cNvPr id="5" name="Pseudonymisation subheading"/>
          <p:cNvSpPr txBox="1"/>
          <p:nvPr/>
        </p:nvSpPr>
        <p:spPr>
          <a:xfrm>
            <a:off x="731520" y="1783080"/>
            <a:ext cx="3474720" cy="274320"/>
          </a:xfrm>
          <a:prstGeom prst="rect">
            <a:avLst/>
          </a:prstGeom>
          <a:noFill/>
          <a:ln/>
        </p:spPr>
        <p:txBody>
          <a:bodyPr wrap="square" lIns="0" tIns="0" rIns="0" bIns="0" rtlCol="0" anchor="ctr"/>
          <a:lstStyle/>
          <a:p>
            <a:pPr indent="0" marL="0">
              <a:buNone/>
            </a:pPr>
            <a:r>
              <a:rPr lang="en-US" sz="1400" dirty="0">
                <a:solidFill>
                  <a:schemeClr val="accent5"/>
                </a:solidFill>
              </a:rPr>
              <a:t>queries and ordinary documents</a:t>
            </a:r>
            <a:endParaRPr lang="en-US" sz="1400" dirty="0"/>
          </a:p>
        </p:txBody>
      </p:sp>
      <p:sp>
        <p:nvSpPr>
          <p:cNvPr id="6" name="Pseudonymisation token"/>
          <p:cNvSpPr/>
          <p:nvPr/>
        </p:nvSpPr>
        <p:spPr>
          <a:xfrm>
            <a:off x="731520" y="2194560"/>
            <a:ext cx="1920240" cy="310896"/>
          </a:xfrm>
          <a:prstGeom prst="roundRect">
            <a:avLst>
              <a:gd name="adj" fmla="val 50000"/>
            </a:avLst>
          </a:prstGeom>
          <a:solidFill>
            <a:schemeClr val="bg1"/>
          </a:solidFill>
          <a:ln w="15875">
            <a:solidFill>
              <a:schemeClr val="accent1"/>
            </a:solidFill>
            <a:prstDash val="solid"/>
          </a:ln>
        </p:spPr>
      </p:sp>
      <p:sp>
        <p:nvSpPr>
          <p:cNvPr id="7" name="Pseudonymisation token text"/>
          <p:cNvSpPr txBox="1"/>
          <p:nvPr/>
        </p:nvSpPr>
        <p:spPr>
          <a:xfrm>
            <a:off x="731520" y="2194560"/>
            <a:ext cx="1920240" cy="310896"/>
          </a:xfrm>
          <a:prstGeom prst="rect">
            <a:avLst/>
          </a:prstGeom>
          <a:noFill/>
          <a:ln/>
        </p:spPr>
        <p:txBody>
          <a:bodyPr wrap="square" lIns="0" tIns="0" rIns="0" bIns="0" rtlCol="0" anchor="ctr"/>
          <a:lstStyle/>
          <a:p>
            <a:pPr algn="ctr" indent="0" marL="0">
              <a:buNone/>
            </a:pPr>
            <a:r>
              <a:rPr lang="en-US" sz="1200" b="1" dirty="0">
                <a:solidFill>
                  <a:schemeClr val="tx2"/>
                </a:solidFill>
                <a:latin typeface="Courier New" pitchFamily="34" charset="0"/>
                <a:ea typeface="Courier New" pitchFamily="34" charset="-122"/>
                <a:cs typeface="Courier New" pitchFamily="34" charset="-120"/>
              </a:rPr>
              <a:t>[PERSON_1be848]</a:t>
            </a:r>
            <a:endParaRPr lang="en-US" sz="1200" dirty="0"/>
          </a:p>
        </p:txBody>
      </p:sp>
      <p:sp>
        <p:nvSpPr>
          <p:cNvPr id="8" name="Pseudonymisation points"/>
          <p:cNvSpPr txBox="1"/>
          <p:nvPr/>
        </p:nvSpPr>
        <p:spPr>
          <a:xfrm>
            <a:off x="731520" y="2697480"/>
            <a:ext cx="347472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Keyed token: same person, same token</a:t>
            </a:r>
            <a:endParaRPr lang="en-US" sz="1400" dirty="0"/>
          </a:p>
          <a:p>
            <a:pPr marL="342900" indent="-342900">
              <a:spcAft>
                <a:spcPts val="600"/>
              </a:spcAft>
              <a:buSzPct val="100000"/>
              <a:buChar char="•"/>
            </a:pPr>
            <a:r>
              <a:rPr lang="en-US" sz="1400" dirty="0">
                <a:solidFill>
                  <a:schemeClr val="tx1"/>
                </a:solidFill>
              </a:rPr>
              <a:t>Retrieval still works on masked text</a:t>
            </a:r>
            <a:endParaRPr lang="en-US" sz="1400" dirty="0"/>
          </a:p>
          <a:p>
            <a:pPr marL="342900" indent="-342900">
              <a:spcAft>
                <a:spcPts val="600"/>
              </a:spcAft>
              <a:buSzPct val="100000"/>
              <a:buChar char="•"/>
            </a:pPr>
            <a:r>
              <a:rPr lang="en-US" sz="1400" dirty="0">
                <a:solidFill>
                  <a:schemeClr val="tx1"/>
                </a:solidFill>
              </a:rPr>
              <a:t>Reversible only for names the user typed</a:t>
            </a:r>
            <a:endParaRPr lang="en-US" sz="1400" dirty="0"/>
          </a:p>
          <a:p>
            <a:pPr marL="342900" indent="-342900">
              <a:spcAft>
                <a:spcPts val="600"/>
              </a:spcAft>
              <a:buSzPct val="100000"/>
              <a:buChar char="•"/>
            </a:pPr>
            <a:r>
              <a:rPr lang="en-US" sz="1400" dirty="0">
                <a:solidFill>
                  <a:schemeClr val="tx1"/>
                </a:solidFill>
              </a:rPr>
              <a:t>Still personal data under GDPR</a:t>
            </a:r>
            <a:endParaRPr lang="en-US" sz="1400" dirty="0"/>
          </a:p>
        </p:txBody>
      </p:sp>
      <p:sp>
        <p:nvSpPr>
          <p:cNvPr id="9" name="De-identification card"/>
          <p:cNvSpPr/>
          <p:nvPr/>
        </p:nvSpPr>
        <p:spPr>
          <a:xfrm>
            <a:off x="4663440" y="1234440"/>
            <a:ext cx="4023360" cy="3429000"/>
          </a:xfrm>
          <a:prstGeom prst="roundRect">
            <a:avLst>
              <a:gd name="adj" fmla="val 2133"/>
            </a:avLst>
          </a:prstGeom>
          <a:solidFill>
            <a:schemeClr val="bg2"/>
          </a:solidFill>
          <a:ln w="12700">
            <a:solidFill>
              <a:schemeClr val="bg2"/>
            </a:solidFill>
            <a:prstDash val="solid"/>
          </a:ln>
        </p:spPr>
      </p:sp>
      <p:sp>
        <p:nvSpPr>
          <p:cNvPr id="10" name="De-identification heading"/>
          <p:cNvSpPr txBox="1"/>
          <p:nvPr/>
        </p:nvSpPr>
        <p:spPr>
          <a:xfrm>
            <a:off x="4937760" y="1371600"/>
            <a:ext cx="3474720" cy="41148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De-identification</a:t>
            </a:r>
            <a:endParaRPr lang="en-US" sz="2200" dirty="0"/>
          </a:p>
        </p:txBody>
      </p:sp>
      <p:sp>
        <p:nvSpPr>
          <p:cNvPr id="11" name="De-identification subheading"/>
          <p:cNvSpPr txBox="1"/>
          <p:nvPr/>
        </p:nvSpPr>
        <p:spPr>
          <a:xfrm>
            <a:off x="4937760" y="1783080"/>
            <a:ext cx="3474720" cy="274320"/>
          </a:xfrm>
          <a:prstGeom prst="rect">
            <a:avLst/>
          </a:prstGeom>
          <a:noFill/>
          <a:ln/>
        </p:spPr>
        <p:txBody>
          <a:bodyPr wrap="square" lIns="0" tIns="0" rIns="0" bIns="0" rtlCol="0" anchor="ctr"/>
          <a:lstStyle/>
          <a:p>
            <a:pPr indent="0" marL="0">
              <a:buNone/>
            </a:pPr>
            <a:r>
              <a:rPr lang="en-US" sz="1400" dirty="0">
                <a:solidFill>
                  <a:schemeClr val="accent5"/>
                </a:solidFill>
              </a:rPr>
              <a:t>clinical reports</a:t>
            </a:r>
            <a:endParaRPr lang="en-US" sz="1400" dirty="0"/>
          </a:p>
        </p:txBody>
      </p:sp>
      <p:sp>
        <p:nvSpPr>
          <p:cNvPr id="12" name="De-identification token"/>
          <p:cNvSpPr/>
          <p:nvPr/>
        </p:nvSpPr>
        <p:spPr>
          <a:xfrm>
            <a:off x="4937760" y="2194560"/>
            <a:ext cx="1920240" cy="310896"/>
          </a:xfrm>
          <a:prstGeom prst="roundRect">
            <a:avLst>
              <a:gd name="adj" fmla="val 50000"/>
            </a:avLst>
          </a:prstGeom>
          <a:solidFill>
            <a:schemeClr val="bg1"/>
          </a:solidFill>
          <a:ln w="15875">
            <a:solidFill>
              <a:schemeClr val="accent1"/>
            </a:solidFill>
            <a:prstDash val="solid"/>
          </a:ln>
        </p:spPr>
      </p:sp>
      <p:sp>
        <p:nvSpPr>
          <p:cNvPr id="13" name="De-identification token text"/>
          <p:cNvSpPr txBox="1"/>
          <p:nvPr/>
        </p:nvSpPr>
        <p:spPr>
          <a:xfrm>
            <a:off x="4937760" y="2194560"/>
            <a:ext cx="1920240" cy="310896"/>
          </a:xfrm>
          <a:prstGeom prst="rect">
            <a:avLst/>
          </a:prstGeom>
          <a:noFill/>
          <a:ln/>
        </p:spPr>
        <p:txBody>
          <a:bodyPr wrap="square" lIns="0" tIns="0" rIns="0" bIns="0" rtlCol="0" anchor="ctr"/>
          <a:lstStyle/>
          <a:p>
            <a:pPr algn="ctr" indent="0" marL="0">
              <a:buNone/>
            </a:pPr>
            <a:r>
              <a:rPr lang="en-US" sz="1200" b="1" dirty="0">
                <a:solidFill>
                  <a:schemeClr val="tx2"/>
                </a:solidFill>
                <a:latin typeface="Courier New" pitchFamily="34" charset="0"/>
                <a:ea typeface="Courier New" pitchFamily="34" charset="-122"/>
                <a:cs typeface="Courier New" pitchFamily="34" charset="-120"/>
              </a:rPr>
              <a:t>[PATIENT]</a:t>
            </a:r>
            <a:endParaRPr lang="en-US" sz="1200" dirty="0"/>
          </a:p>
        </p:txBody>
      </p:sp>
      <p:sp>
        <p:nvSpPr>
          <p:cNvPr id="14" name="De-identification points"/>
          <p:cNvSpPr txBox="1"/>
          <p:nvPr/>
        </p:nvSpPr>
        <p:spPr>
          <a:xfrm>
            <a:off x="4937760" y="2697480"/>
            <a:ext cx="347472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Generic markers with no hash: nothing to link</a:t>
            </a:r>
            <a:endParaRPr lang="en-US" sz="1400" dirty="0"/>
          </a:p>
          <a:p>
            <a:pPr marL="342900" indent="-342900">
              <a:spcAft>
                <a:spcPts val="600"/>
              </a:spcAft>
              <a:buSzPct val="100000"/>
              <a:buChar char="•"/>
            </a:pPr>
            <a:r>
              <a:rPr lang="en-US" sz="1400" dirty="0">
                <a:solidFill>
                  <a:schemeClr val="tx1"/>
                </a:solidFill>
              </a:rPr>
              <a:t>Dates, ages and postcodes are generalised</a:t>
            </a:r>
            <a:endParaRPr lang="en-US" sz="1400" dirty="0"/>
          </a:p>
          <a:p>
            <a:pPr marL="342900" indent="-342900">
              <a:spcAft>
                <a:spcPts val="600"/>
              </a:spcAft>
              <a:buSzPct val="100000"/>
              <a:buChar char="•"/>
            </a:pPr>
            <a:r>
              <a:rPr lang="en-US" sz="1400" dirty="0">
                <a:solidFill>
                  <a:schemeClr val="tx1"/>
                </a:solidFill>
              </a:rPr>
              <a:t>Needs DPO sign-off before it counts as anonymous</a:t>
            </a:r>
            <a:endParaRPr lang="en-US" sz="1400" dirty="0"/>
          </a:p>
          <a:p>
            <a:pPr marL="342900" indent="-342900">
              <a:spcAft>
                <a:spcPts val="600"/>
              </a:spcAft>
              <a:buSzPct val="100000"/>
              <a:buChar char="•"/>
            </a:pPr>
            <a:r>
              <a:rPr lang="en-US" sz="1400" dirty="0">
                <a:solidFill>
                  <a:schemeClr val="tx1"/>
                </a:solidFill>
              </a:rPr>
              <a:t>Free text can still hold indirect identifiers</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Medical reports, before and after</a:t>
            </a:r>
            <a:endParaRPr lang="en-US" sz="3000" dirty="0"/>
          </a:p>
        </p:txBody>
      </p:sp>
      <p:sp>
        <p:nvSpPr>
          <p:cNvPr id="3" name="Removed head"/>
          <p:cNvSpPr txBox="1"/>
          <p:nvPr/>
        </p:nvSpPr>
        <p:spPr>
          <a:xfrm>
            <a:off x="457200" y="1234440"/>
            <a:ext cx="3291840" cy="274320"/>
          </a:xfrm>
          <a:prstGeom prst="rect">
            <a:avLst/>
          </a:prstGeom>
          <a:noFill/>
          <a:ln/>
        </p:spPr>
        <p:txBody>
          <a:bodyPr wrap="square" lIns="0" tIns="0" rIns="0" bIns="0" rtlCol="0" anchor="ctr"/>
          <a:lstStyle/>
          <a:p>
            <a:pPr indent="0" marL="0">
              <a:buNone/>
            </a:pPr>
            <a:r>
              <a:rPr lang="en-US" sz="1600" b="1" dirty="0">
                <a:solidFill>
                  <a:schemeClr val="accent1"/>
                </a:solidFill>
              </a:rPr>
              <a:t>Removed</a:t>
            </a:r>
            <a:endParaRPr lang="en-US" sz="1600" dirty="0"/>
          </a:p>
        </p:txBody>
      </p:sp>
      <p:sp>
        <p:nvSpPr>
          <p:cNvPr id="4" name="Removed body"/>
          <p:cNvSpPr txBox="1"/>
          <p:nvPr/>
        </p:nvSpPr>
        <p:spPr>
          <a:xfrm>
            <a:off x="457200" y="1527048"/>
            <a:ext cx="3291840" cy="685800"/>
          </a:xfrm>
          <a:prstGeom prst="rect">
            <a:avLst/>
          </a:prstGeom>
          <a:noFill/>
          <a:ln/>
        </p:spPr>
        <p:txBody>
          <a:bodyPr wrap="square" lIns="0" tIns="0" rIns="0" bIns="0" rtlCol="0" anchor="t"/>
          <a:lstStyle/>
          <a:p>
            <a:pPr indent="0" marL="0">
              <a:buNone/>
            </a:pPr>
            <a:r>
              <a:rPr lang="en-US" sz="1400" dirty="0">
                <a:solidFill>
                  <a:schemeClr val="tx1"/>
                </a:solidFill>
              </a:rPr>
              <a:t>names, IDs, phone, e-mail, facility, accession numbers</a:t>
            </a:r>
            <a:endParaRPr lang="en-US" sz="1400" dirty="0"/>
          </a:p>
        </p:txBody>
      </p:sp>
      <p:sp>
        <p:nvSpPr>
          <p:cNvPr id="5" name="Generalised head"/>
          <p:cNvSpPr txBox="1"/>
          <p:nvPr/>
        </p:nvSpPr>
        <p:spPr>
          <a:xfrm>
            <a:off x="457200" y="2286000"/>
            <a:ext cx="3291840" cy="274320"/>
          </a:xfrm>
          <a:prstGeom prst="rect">
            <a:avLst/>
          </a:prstGeom>
          <a:noFill/>
          <a:ln/>
        </p:spPr>
        <p:txBody>
          <a:bodyPr wrap="square" lIns="0" tIns="0" rIns="0" bIns="0" rtlCol="0" anchor="ctr"/>
          <a:lstStyle/>
          <a:p>
            <a:pPr indent="0" marL="0">
              <a:buNone/>
            </a:pPr>
            <a:r>
              <a:rPr lang="en-US" sz="1600" b="1" dirty="0">
                <a:solidFill>
                  <a:schemeClr val="accent1"/>
                </a:solidFill>
              </a:rPr>
              <a:t>Generalised</a:t>
            </a:r>
            <a:endParaRPr lang="en-US" sz="1600" dirty="0"/>
          </a:p>
        </p:txBody>
      </p:sp>
      <p:sp>
        <p:nvSpPr>
          <p:cNvPr id="6" name="Generalised body"/>
          <p:cNvSpPr txBox="1"/>
          <p:nvPr/>
        </p:nvSpPr>
        <p:spPr>
          <a:xfrm>
            <a:off x="457200" y="2578608"/>
            <a:ext cx="3291840" cy="685800"/>
          </a:xfrm>
          <a:prstGeom prst="rect">
            <a:avLst/>
          </a:prstGeom>
          <a:noFill/>
          <a:ln/>
        </p:spPr>
        <p:txBody>
          <a:bodyPr wrap="square" lIns="0" tIns="0" rIns="0" bIns="0" rtlCol="0" anchor="t"/>
          <a:lstStyle/>
          <a:p>
            <a:pPr indent="0" marL="0">
              <a:buNone/>
            </a:pPr>
            <a:r>
              <a:rPr lang="en-US" sz="1400" dirty="0">
                <a:solidFill>
                  <a:schemeClr val="tx1"/>
                </a:solidFill>
              </a:rPr>
              <a:t>dates to year-month, birth date to year, age to a 5-year band, postcode to 3 digits</a:t>
            </a:r>
            <a:endParaRPr lang="en-US" sz="1400" dirty="0"/>
          </a:p>
        </p:txBody>
      </p:sp>
      <p:sp>
        <p:nvSpPr>
          <p:cNvPr id="7" name="Kept head"/>
          <p:cNvSpPr txBox="1"/>
          <p:nvPr/>
        </p:nvSpPr>
        <p:spPr>
          <a:xfrm>
            <a:off x="457200" y="3337560"/>
            <a:ext cx="3291840" cy="274320"/>
          </a:xfrm>
          <a:prstGeom prst="rect">
            <a:avLst/>
          </a:prstGeom>
          <a:noFill/>
          <a:ln/>
        </p:spPr>
        <p:txBody>
          <a:bodyPr wrap="square" lIns="0" tIns="0" rIns="0" bIns="0" rtlCol="0" anchor="ctr"/>
          <a:lstStyle/>
          <a:p>
            <a:pPr indent="0" marL="0">
              <a:buNone/>
            </a:pPr>
            <a:r>
              <a:rPr lang="en-US" sz="1600" b="1" dirty="0">
                <a:solidFill>
                  <a:schemeClr val="accent1"/>
                </a:solidFill>
              </a:rPr>
              <a:t>Kept</a:t>
            </a:r>
            <a:endParaRPr lang="en-US" sz="1600" dirty="0"/>
          </a:p>
        </p:txBody>
      </p:sp>
      <p:sp>
        <p:nvSpPr>
          <p:cNvPr id="8" name="Kept body"/>
          <p:cNvSpPr txBox="1"/>
          <p:nvPr/>
        </p:nvSpPr>
        <p:spPr>
          <a:xfrm>
            <a:off x="457200" y="3630168"/>
            <a:ext cx="3291840" cy="685800"/>
          </a:xfrm>
          <a:prstGeom prst="rect">
            <a:avLst/>
          </a:prstGeom>
          <a:noFill/>
          <a:ln/>
        </p:spPr>
        <p:txBody>
          <a:bodyPr wrap="square" lIns="0" tIns="0" rIns="0" bIns="0" rtlCol="0" anchor="t"/>
          <a:lstStyle/>
          <a:p>
            <a:pPr indent="0" marL="0">
              <a:buNone/>
            </a:pPr>
            <a:r>
              <a:rPr lang="en-US" sz="1400" dirty="0">
                <a:solidFill>
                  <a:schemeClr val="tx1"/>
                </a:solidFill>
              </a:rPr>
              <a:t>lab values, units, reference ranges, LOINC and ICD codes</a:t>
            </a:r>
            <a:endParaRPr lang="en-US" sz="1400" dirty="0"/>
          </a:p>
        </p:txBody>
      </p:sp>
      <p:sp>
        <p:nvSpPr>
          <p:cNvPr id="9" name="Result caption"/>
          <p:cNvSpPr txBox="1"/>
          <p:nvPr/>
        </p:nvSpPr>
        <p:spPr>
          <a:xfrm>
            <a:off x="457200" y="4251960"/>
            <a:ext cx="3291840" cy="502920"/>
          </a:xfrm>
          <a:prstGeom prst="rect">
            <a:avLst/>
          </a:prstGeom>
          <a:noFill/>
          <a:ln/>
        </p:spPr>
        <p:txBody>
          <a:bodyPr wrap="square" lIns="0" tIns="0" rIns="0" bIns="0" rtlCol="0" anchor="t"/>
          <a:lstStyle/>
          <a:p>
            <a:pPr indent="0" marL="0">
              <a:buNone/>
            </a:pPr>
            <a:r>
              <a:rPr lang="en-US" sz="1200" i="1" dirty="0">
                <a:solidFill>
                  <a:schemeClr val="accent5"/>
                </a:solidFill>
              </a:rPr>
              <a:t>74 of 74 planted identifiers removed; 24 of 24 clinical strings kept (author-written test reports)</a:t>
            </a:r>
            <a:endParaRPr lang="en-US" sz="1200" dirty="0"/>
          </a:p>
        </p:txBody>
      </p:sp>
      <p:pic>
        <p:nvPicPr>
          <p:cNvPr id="10" name="De-identification before and after" descr="Terminal output comparing an original lab report with its de-identified version">    </p:cNvPr>
          <p:cNvPicPr>
            <a:picLocks noChangeAspect="1"/>
          </p:cNvPicPr>
          <p:nvPr/>
        </p:nvPicPr>
        <p:blipFill>
          <a:blip r:embed="rId1"/>
          <a:stretch>
            <a:fillRect/>
          </a:stretch>
        </p:blipFill>
        <p:spPr>
          <a:xfrm>
            <a:off x="3931920" y="1234440"/>
            <a:ext cx="4754880" cy="3391498"/>
          </a:xfrm>
          <a:prstGeom prst="rect">
            <a:avLst/>
          </a:prstGeom>
        </p:spPr>
      </p:pic>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Each retrieval stage earns its place</a:t>
            </a:r>
            <a:endParaRPr lang="en-US" sz="3000" dirty="0"/>
          </a:p>
        </p:txBody>
      </p:sp>
      <p:graphicFrame>
        <p:nvGraphicFramePr>
          <p:cNvPr id="3" name="MRR by retrieval stage" descr=""/>
          <p:cNvGraphicFramePr/>
          <p:nvPr/>
        </p:nvGraphicFramePr>
        <p:xfrm>
          <a:off x="457200" y="1234440"/>
          <a:ext cx="5029200" cy="3063240"/>
        </p:xfrm>
        <a:graphic xmlns:a="http://schemas.openxmlformats.org/drawingml/2006/main">
          <a:graphicData uri="http://schemas.openxmlformats.org/drawingml/2006/chart">
            <c:chart xmlns:c="http://schemas.openxmlformats.org/drawingml/2006/chart" r:id="rId1"/>
          </a:graphicData>
        </a:graphic>
      </p:graphicFrame>
      <p:sp>
        <p:nvSpPr>
          <p:cNvPr id="4" name="Chart caption"/>
          <p:cNvSpPr txBox="1"/>
          <p:nvPr/>
        </p:nvSpPr>
        <p:spPr>
          <a:xfrm>
            <a:off x="457200" y="4343400"/>
            <a:ext cx="5029200" cy="411480"/>
          </a:xfrm>
          <a:prstGeom prst="rect">
            <a:avLst/>
          </a:prstGeom>
          <a:noFill/>
          <a:ln/>
        </p:spPr>
        <p:txBody>
          <a:bodyPr wrap="square" lIns="0" tIns="0" rIns="0" bIns="0" rtlCol="0" anchor="t"/>
          <a:lstStyle/>
          <a:p>
            <a:pPr indent="0" marL="0">
              <a:buNone/>
            </a:pPr>
            <a:r>
              <a:rPr lang="en-US" sz="1200" dirty="0">
                <a:solidFill>
                  <a:schemeClr val="accent5"/>
                </a:solidFill>
              </a:rPr>
              <a:t>Mean reciprocal rank on 46 labelled questions, semantic profile. Higher is better.</a:t>
            </a:r>
            <a:endParaRPr lang="en-US" sz="1200" dirty="0"/>
          </a:p>
        </p:txBody>
      </p:sp>
      <p:sp>
        <p:nvSpPr>
          <p:cNvPr id="5" name="Retrieval takeaways"/>
          <p:cNvSpPr txBox="1"/>
          <p:nvPr/>
        </p:nvSpPr>
        <p:spPr>
          <a:xfrm>
            <a:off x="5760720" y="1325880"/>
            <a:ext cx="292608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Keyword search alone misses paraphrased questions</a:t>
            </a:r>
            <a:endParaRPr lang="en-US" sz="1400" dirty="0"/>
          </a:p>
          <a:p>
            <a:pPr marL="342900" indent="-342900">
              <a:spcAft>
                <a:spcPts val="600"/>
              </a:spcAft>
              <a:buSzPct val="100000"/>
              <a:buChar char="•"/>
            </a:pPr>
            <a:r>
              <a:rPr lang="en-US" sz="1400" dirty="0">
                <a:solidFill>
                  <a:schemeClr val="tx1"/>
                </a:solidFill>
              </a:rPr>
              <a:t>Embeddings raise recall to 0.98; fusion reaches 1.00</a:t>
            </a:r>
            <a:endParaRPr lang="en-US" sz="1400" dirty="0"/>
          </a:p>
          <a:p>
            <a:pPr marL="342900" indent="-342900">
              <a:spcAft>
                <a:spcPts val="600"/>
              </a:spcAft>
              <a:buSzPct val="100000"/>
              <a:buChar char="•"/>
            </a:pPr>
            <a:r>
              <a:rPr lang="en-US" sz="1400" dirty="0">
                <a:solidFill>
                  <a:schemeClr val="tx1"/>
                </a:solidFill>
              </a:rPr>
              <a:t>The cross-encoder orders best, but pushed one question out of the top 3</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Defence in depth, proven by attack</a:t>
            </a:r>
            <a:endParaRPr lang="en-US" sz="3000" dirty="0"/>
          </a:p>
        </p:txBody>
      </p:sp>
      <p:sp>
        <p:nvSpPr>
          <p:cNvPr id="3" name="Layer badge 1"/>
          <p:cNvSpPr/>
          <p:nvPr/>
        </p:nvSpPr>
        <p:spPr>
          <a:xfrm>
            <a:off x="457200" y="1280160"/>
            <a:ext cx="384048" cy="384048"/>
          </a:xfrm>
          <a:prstGeom prst="ellipse">
            <a:avLst/>
          </a:prstGeom>
          <a:solidFill>
            <a:schemeClr val="accent1"/>
          </a:solidFill>
          <a:ln w="12700">
            <a:solidFill>
              <a:schemeClr val="accent1"/>
            </a:solidFill>
            <a:prstDash val="solid"/>
          </a:ln>
        </p:spPr>
      </p:sp>
      <p:sp>
        <p:nvSpPr>
          <p:cNvPr id="4" name="Layer badge 1 number"/>
          <p:cNvSpPr txBox="1"/>
          <p:nvPr/>
        </p:nvSpPr>
        <p:spPr>
          <a:xfrm>
            <a:off x="457200" y="128016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Layer item 1"/>
          <p:cNvSpPr txBox="1"/>
          <p:nvPr/>
        </p:nvSpPr>
        <p:spPr>
          <a:xfrm>
            <a:off x="987552" y="1243584"/>
            <a:ext cx="2578608" cy="822960"/>
          </a:xfrm>
          <a:prstGeom prst="rect">
            <a:avLst/>
          </a:prstGeom>
          <a:noFill/>
          <a:ln/>
        </p:spPr>
        <p:txBody>
          <a:bodyPr wrap="square" lIns="0" tIns="0" rIns="0" bIns="0" rtlCol="0" anchor="t"/>
          <a:lstStyle/>
          <a:p>
            <a:pPr indent="0" marL="0">
              <a:buNone/>
            </a:pPr>
            <a:r>
              <a:rPr lang="en-US" sz="1400" dirty="0">
                <a:solidFill>
                  <a:schemeClr val="tx1"/>
                </a:solidFill>
              </a:rPr>
              <a:t>Input guard: injection, exfiltration, clinical advice</a:t>
            </a:r>
            <a:endParaRPr lang="en-US" sz="1400" dirty="0"/>
          </a:p>
        </p:txBody>
      </p:sp>
      <p:sp>
        <p:nvSpPr>
          <p:cNvPr id="6" name="Layer badge 2"/>
          <p:cNvSpPr/>
          <p:nvPr/>
        </p:nvSpPr>
        <p:spPr>
          <a:xfrm>
            <a:off x="457200" y="1920240"/>
            <a:ext cx="384048" cy="384048"/>
          </a:xfrm>
          <a:prstGeom prst="ellipse">
            <a:avLst/>
          </a:prstGeom>
          <a:solidFill>
            <a:schemeClr val="accent1"/>
          </a:solidFill>
          <a:ln w="12700">
            <a:solidFill>
              <a:schemeClr val="accent1"/>
            </a:solidFill>
            <a:prstDash val="solid"/>
          </a:ln>
        </p:spPr>
      </p:sp>
      <p:sp>
        <p:nvSpPr>
          <p:cNvPr id="7" name="Layer badge 2 number"/>
          <p:cNvSpPr txBox="1"/>
          <p:nvPr/>
        </p:nvSpPr>
        <p:spPr>
          <a:xfrm>
            <a:off x="457200" y="192024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Layer item 2"/>
          <p:cNvSpPr txBox="1"/>
          <p:nvPr/>
        </p:nvSpPr>
        <p:spPr>
          <a:xfrm>
            <a:off x="987552" y="1883664"/>
            <a:ext cx="2578608" cy="822960"/>
          </a:xfrm>
          <a:prstGeom prst="rect">
            <a:avLst/>
          </a:prstGeom>
          <a:noFill/>
          <a:ln/>
        </p:spPr>
        <p:txBody>
          <a:bodyPr wrap="square" lIns="0" tIns="0" rIns="0" bIns="0" rtlCol="0" anchor="t"/>
          <a:lstStyle/>
          <a:p>
            <a:pPr indent="0" marL="0">
              <a:buNone/>
            </a:pPr>
            <a:r>
              <a:rPr lang="en-US" sz="1400" dirty="0">
                <a:solidFill>
                  <a:schemeClr val="tx1"/>
                </a:solidFill>
              </a:rPr>
              <a:t>Context filter drops poisoned documents</a:t>
            </a:r>
            <a:endParaRPr lang="en-US" sz="1400" dirty="0"/>
          </a:p>
        </p:txBody>
      </p:sp>
      <p:sp>
        <p:nvSpPr>
          <p:cNvPr id="9" name="Layer badge 3"/>
          <p:cNvSpPr/>
          <p:nvPr/>
        </p:nvSpPr>
        <p:spPr>
          <a:xfrm>
            <a:off x="457200" y="2560320"/>
            <a:ext cx="384048" cy="384048"/>
          </a:xfrm>
          <a:prstGeom prst="ellipse">
            <a:avLst/>
          </a:prstGeom>
          <a:solidFill>
            <a:schemeClr val="accent1"/>
          </a:solidFill>
          <a:ln w="12700">
            <a:solidFill>
              <a:schemeClr val="accent1"/>
            </a:solidFill>
            <a:prstDash val="solid"/>
          </a:ln>
        </p:spPr>
      </p:sp>
      <p:sp>
        <p:nvSpPr>
          <p:cNvPr id="10" name="Layer badge 3 number"/>
          <p:cNvSpPr txBox="1"/>
          <p:nvPr/>
        </p:nvSpPr>
        <p:spPr>
          <a:xfrm>
            <a:off x="457200" y="256032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Layer item 3"/>
          <p:cNvSpPr txBox="1"/>
          <p:nvPr/>
        </p:nvSpPr>
        <p:spPr>
          <a:xfrm>
            <a:off x="987552" y="2523744"/>
            <a:ext cx="2578608" cy="822960"/>
          </a:xfrm>
          <a:prstGeom prst="rect">
            <a:avLst/>
          </a:prstGeom>
          <a:noFill/>
          <a:ln/>
        </p:spPr>
        <p:txBody>
          <a:bodyPr wrap="square" lIns="0" tIns="0" rIns="0" bIns="0" rtlCol="0" anchor="t"/>
          <a:lstStyle/>
          <a:p>
            <a:pPr indent="0" marL="0">
              <a:buNone/>
            </a:pPr>
            <a:r>
              <a:rPr lang="en-US" sz="1400" dirty="0">
                <a:solidFill>
                  <a:schemeClr val="tx1"/>
                </a:solidFill>
              </a:rPr>
              <a:t>Identifier re-scan of every prompt, fail closed</a:t>
            </a:r>
            <a:endParaRPr lang="en-US" sz="1400" dirty="0"/>
          </a:p>
        </p:txBody>
      </p:sp>
      <p:sp>
        <p:nvSpPr>
          <p:cNvPr id="12" name="Layer badge 4"/>
          <p:cNvSpPr/>
          <p:nvPr/>
        </p:nvSpPr>
        <p:spPr>
          <a:xfrm>
            <a:off x="457200" y="3200400"/>
            <a:ext cx="384048" cy="384048"/>
          </a:xfrm>
          <a:prstGeom prst="ellipse">
            <a:avLst/>
          </a:prstGeom>
          <a:solidFill>
            <a:schemeClr val="accent1"/>
          </a:solidFill>
          <a:ln w="12700">
            <a:solidFill>
              <a:schemeClr val="accent1"/>
            </a:solidFill>
            <a:prstDash val="solid"/>
          </a:ln>
        </p:spPr>
      </p:sp>
      <p:sp>
        <p:nvSpPr>
          <p:cNvPr id="13" name="Layer badge 4 number"/>
          <p:cNvSpPr txBox="1"/>
          <p:nvPr/>
        </p:nvSpPr>
        <p:spPr>
          <a:xfrm>
            <a:off x="457200" y="32004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Layer item 4"/>
          <p:cNvSpPr txBox="1"/>
          <p:nvPr/>
        </p:nvSpPr>
        <p:spPr>
          <a:xfrm>
            <a:off x="987552" y="3163824"/>
            <a:ext cx="2578608" cy="822960"/>
          </a:xfrm>
          <a:prstGeom prst="rect">
            <a:avLst/>
          </a:prstGeom>
          <a:noFill/>
          <a:ln/>
        </p:spPr>
        <p:txBody>
          <a:bodyPr wrap="square" lIns="0" tIns="0" rIns="0" bIns="0" rtlCol="0" anchor="t"/>
          <a:lstStyle/>
          <a:p>
            <a:pPr indent="0" marL="0">
              <a:buNone/>
            </a:pPr>
            <a:r>
              <a:rPr lang="en-US" sz="1400" dirty="0">
                <a:solidFill>
                  <a:schemeClr val="tx1"/>
                </a:solidFill>
              </a:rPr>
              <a:t>Output guard: leaks, citations, grounding</a:t>
            </a:r>
            <a:endParaRPr lang="en-US" sz="1400" dirty="0"/>
          </a:p>
        </p:txBody>
      </p:sp>
      <p:sp>
        <p:nvSpPr>
          <p:cNvPr id="15" name="Layer badge 5"/>
          <p:cNvSpPr/>
          <p:nvPr/>
        </p:nvSpPr>
        <p:spPr>
          <a:xfrm>
            <a:off x="457200" y="3840480"/>
            <a:ext cx="384048" cy="384048"/>
          </a:xfrm>
          <a:prstGeom prst="ellipse">
            <a:avLst/>
          </a:prstGeom>
          <a:solidFill>
            <a:schemeClr val="accent1"/>
          </a:solidFill>
          <a:ln w="12700">
            <a:solidFill>
              <a:schemeClr val="accent1"/>
            </a:solidFill>
            <a:prstDash val="solid"/>
          </a:ln>
        </p:spPr>
      </p:sp>
      <p:sp>
        <p:nvSpPr>
          <p:cNvPr id="16" name="Layer badge 5 number"/>
          <p:cNvSpPr txBox="1"/>
          <p:nvPr/>
        </p:nvSpPr>
        <p:spPr>
          <a:xfrm>
            <a:off x="457200" y="384048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Layer item 5"/>
          <p:cNvSpPr txBox="1"/>
          <p:nvPr/>
        </p:nvSpPr>
        <p:spPr>
          <a:xfrm>
            <a:off x="987552" y="3803904"/>
            <a:ext cx="2578608" cy="822960"/>
          </a:xfrm>
          <a:prstGeom prst="rect">
            <a:avLst/>
          </a:prstGeom>
          <a:noFill/>
          <a:ln/>
        </p:spPr>
        <p:txBody>
          <a:bodyPr wrap="square" lIns="0" tIns="0" rIns="0" bIns="0" rtlCol="0" anchor="t"/>
          <a:lstStyle/>
          <a:p>
            <a:pPr indent="0" marL="0">
              <a:buNone/>
            </a:pPr>
            <a:r>
              <a:rPr lang="en-US" sz="1400" dirty="0">
                <a:solidFill>
                  <a:schemeClr val="tx1"/>
                </a:solidFill>
              </a:rPr>
              <a:t>Identifier-free prompt: nothing to steal</a:t>
            </a:r>
            <a:endParaRPr lang="en-US" sz="1400" dirty="0"/>
          </a:p>
        </p:txBody>
      </p:sp>
      <p:pic>
        <p:nvPicPr>
          <p:cNvPr id="18" name="promptfoo results" descr="promptfoo results viewer showing 38 of 38 cases passing">    </p:cNvPr>
          <p:cNvPicPr>
            <a:picLocks noChangeAspect="1"/>
          </p:cNvPicPr>
          <p:nvPr/>
        </p:nvPicPr>
        <p:blipFill>
          <a:blip r:embed="rId1"/>
          <a:stretch>
            <a:fillRect/>
          </a:stretch>
        </p:blipFill>
        <p:spPr>
          <a:xfrm>
            <a:off x="3657600" y="1280160"/>
            <a:ext cx="5029200" cy="2233215"/>
          </a:xfrm>
          <a:prstGeom prst="rect">
            <a:avLst/>
          </a:prstGeom>
        </p:spPr>
      </p:pic>
      <p:sp>
        <p:nvSpPr>
          <p:cNvPr id="19" name="promptfoo caption"/>
          <p:cNvSpPr txBox="1"/>
          <p:nvPr/>
        </p:nvSpPr>
        <p:spPr>
          <a:xfrm>
            <a:off x="3657600" y="3611880"/>
            <a:ext cx="5029200" cy="274320"/>
          </a:xfrm>
          <a:prstGeom prst="rect">
            <a:avLst/>
          </a:prstGeom>
          <a:noFill/>
          <a:ln/>
        </p:spPr>
        <p:txBody>
          <a:bodyPr wrap="square" lIns="0" tIns="0" rIns="0" bIns="0" rtlCol="0" anchor="ctr"/>
          <a:lstStyle/>
          <a:p>
            <a:pPr indent="0" marL="0">
              <a:buNone/>
            </a:pPr>
            <a:r>
              <a:rPr lang="en-US" sz="1200" dirty="0">
                <a:solidFill>
                  <a:schemeClr val="accent5"/>
                </a:solidFill>
              </a:rPr>
              <a:t>promptfoo results viewer: 38 of 38 cases, 432 of 432 assertions passed.</a:t>
            </a:r>
            <a:endParaRPr lang="en-US" sz="1200" dirty="0"/>
          </a:p>
        </p:txBody>
      </p:sp>
      <p:sp>
        <p:nvSpPr>
          <p:cNvPr id="20" name="Finding note"/>
          <p:cNvSpPr txBox="1"/>
          <p:nvPr/>
        </p:nvSpPr>
        <p:spPr>
          <a:xfrm>
            <a:off x="3657600" y="4023360"/>
            <a:ext cx="5029200" cy="685800"/>
          </a:xfrm>
          <a:prstGeom prst="rect">
            <a:avLst/>
          </a:prstGeom>
          <a:noFill/>
          <a:ln/>
        </p:spPr>
        <p:txBody>
          <a:bodyPr wrap="square" lIns="0" tIns="0" rIns="0" bIns="0" rtlCol="0" anchor="t"/>
          <a:lstStyle/>
          <a:p>
            <a:pPr indent="0" marL="0">
              <a:buNone/>
            </a:pPr>
            <a:r>
              <a:rPr lang="en-US" sz="1400" dirty="0">
                <a:solidFill>
                  <a:schemeClr val="tx1"/>
                </a:solidFill>
              </a:rPr>
              <a:t>A letter-spaced injection once slipped past the first layer. This suite found it; it is fixed and now a regression test.</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Live: a question that names a patient</a:t>
            </a:r>
            <a:endParaRPr lang="en-US" sz="3000" dirty="0"/>
          </a:p>
        </p:txBody>
      </p:sp>
      <p:sp>
        <p:nvSpPr>
          <p:cNvPr id="3" name="Demo badge 1"/>
          <p:cNvSpPr/>
          <p:nvPr/>
        </p:nvSpPr>
        <p:spPr>
          <a:xfrm>
            <a:off x="457200" y="1325880"/>
            <a:ext cx="384048" cy="384048"/>
          </a:xfrm>
          <a:prstGeom prst="ellipse">
            <a:avLst/>
          </a:prstGeom>
          <a:solidFill>
            <a:schemeClr val="accent1"/>
          </a:solidFill>
          <a:ln w="12700">
            <a:solidFill>
              <a:schemeClr val="accent1"/>
            </a:solidFill>
            <a:prstDash val="solid"/>
          </a:ln>
        </p:spPr>
      </p:sp>
      <p:sp>
        <p:nvSpPr>
          <p:cNvPr id="4" name="Demo badge 1 number"/>
          <p:cNvSpPr txBox="1"/>
          <p:nvPr/>
        </p:nvSpPr>
        <p:spPr>
          <a:xfrm>
            <a:off x="457200" y="132588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Demo item 1"/>
          <p:cNvSpPr txBox="1"/>
          <p:nvPr/>
        </p:nvSpPr>
        <p:spPr>
          <a:xfrm>
            <a:off x="987552" y="1289304"/>
            <a:ext cx="2761488" cy="822960"/>
          </a:xfrm>
          <a:prstGeom prst="rect">
            <a:avLst/>
          </a:prstGeom>
          <a:noFill/>
          <a:ln/>
        </p:spPr>
        <p:txBody>
          <a:bodyPr wrap="square" lIns="0" tIns="0" rIns="0" bIns="0" rtlCol="0" anchor="t"/>
          <a:lstStyle/>
          <a:p>
            <a:pPr indent="0" marL="0">
              <a:buNone/>
            </a:pPr>
            <a:r>
              <a:rPr lang="en-US" sz="1400" dirty="0">
                <a:solidFill>
                  <a:schemeClr val="tx1"/>
                </a:solidFill>
              </a:rPr>
              <a:t>The name is tokenised before retrieval, so the model sees [PERSON_ce1f64]</a:t>
            </a:r>
            <a:endParaRPr lang="en-US" sz="1400" dirty="0"/>
          </a:p>
        </p:txBody>
      </p:sp>
      <p:sp>
        <p:nvSpPr>
          <p:cNvPr id="6" name="Demo badge 2"/>
          <p:cNvSpPr/>
          <p:nvPr/>
        </p:nvSpPr>
        <p:spPr>
          <a:xfrm>
            <a:off x="457200" y="2468880"/>
            <a:ext cx="384048" cy="384048"/>
          </a:xfrm>
          <a:prstGeom prst="ellipse">
            <a:avLst/>
          </a:prstGeom>
          <a:solidFill>
            <a:schemeClr val="accent1"/>
          </a:solidFill>
          <a:ln w="12700">
            <a:solidFill>
              <a:schemeClr val="accent1"/>
            </a:solidFill>
            <a:prstDash val="solid"/>
          </a:ln>
        </p:spPr>
      </p:sp>
      <p:sp>
        <p:nvSpPr>
          <p:cNvPr id="7" name="Demo badge 2 number"/>
          <p:cNvSpPr txBox="1"/>
          <p:nvPr/>
        </p:nvSpPr>
        <p:spPr>
          <a:xfrm>
            <a:off x="457200" y="246888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Demo item 2"/>
          <p:cNvSpPr txBox="1"/>
          <p:nvPr/>
        </p:nvSpPr>
        <p:spPr>
          <a:xfrm>
            <a:off x="987552" y="2432304"/>
            <a:ext cx="2761488" cy="822960"/>
          </a:xfrm>
          <a:prstGeom prst="rect">
            <a:avLst/>
          </a:prstGeom>
          <a:noFill/>
          <a:ln/>
        </p:spPr>
        <p:txBody>
          <a:bodyPr wrap="square" lIns="0" tIns="0" rIns="0" bIns="0" rtlCol="0" anchor="t"/>
          <a:lstStyle/>
          <a:p>
            <a:pPr indent="0" marL="0">
              <a:buNone/>
            </a:pPr>
            <a:r>
              <a:rPr lang="en-US" sz="1400" dirty="0">
                <a:solidFill>
                  <a:schemeClr val="tx1"/>
                </a:solidFill>
              </a:rPr>
              <a:t>About 68 tokens of context are sent. The document's ID, e-mail and phone stay masked</a:t>
            </a:r>
            <a:endParaRPr lang="en-US" sz="1400" dirty="0"/>
          </a:p>
        </p:txBody>
      </p:sp>
      <p:sp>
        <p:nvSpPr>
          <p:cNvPr id="9" name="Demo badge 3"/>
          <p:cNvSpPr/>
          <p:nvPr/>
        </p:nvSpPr>
        <p:spPr>
          <a:xfrm>
            <a:off x="457200" y="3611880"/>
            <a:ext cx="384048" cy="384048"/>
          </a:xfrm>
          <a:prstGeom prst="ellipse">
            <a:avLst/>
          </a:prstGeom>
          <a:solidFill>
            <a:schemeClr val="accent1"/>
          </a:solidFill>
          <a:ln w="12700">
            <a:solidFill>
              <a:schemeClr val="accent1"/>
            </a:solidFill>
            <a:prstDash val="solid"/>
          </a:ln>
        </p:spPr>
      </p:sp>
      <p:sp>
        <p:nvSpPr>
          <p:cNvPr id="10" name="Demo badge 3 number"/>
          <p:cNvSpPr txBox="1"/>
          <p:nvPr/>
        </p:nvSpPr>
        <p:spPr>
          <a:xfrm>
            <a:off x="457200" y="361188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Demo item 3"/>
          <p:cNvSpPr txBox="1"/>
          <p:nvPr/>
        </p:nvSpPr>
        <p:spPr>
          <a:xfrm>
            <a:off x="987552" y="3575304"/>
            <a:ext cx="2761488" cy="822960"/>
          </a:xfrm>
          <a:prstGeom prst="rect">
            <a:avLst/>
          </a:prstGeom>
          <a:noFill/>
          <a:ln/>
        </p:spPr>
        <p:txBody>
          <a:bodyPr wrap="square" lIns="0" tIns="0" rIns="0" bIns="0" rtlCol="0" anchor="t"/>
          <a:lstStyle/>
          <a:p>
            <a:pPr indent="0" marL="0">
              <a:buNone/>
            </a:pPr>
            <a:r>
              <a:rPr lang="en-US" sz="1400" dirty="0">
                <a:solidFill>
                  <a:schemeClr val="tx1"/>
                </a:solidFill>
              </a:rPr>
              <a:t>The answer restores only the name the user typed</a:t>
            </a:r>
            <a:endParaRPr lang="en-US" sz="1400" dirty="0"/>
          </a:p>
        </p:txBody>
      </p:sp>
      <p:pic>
        <p:nvPicPr>
          <p:cNvPr id="12" name="Ask tab screenshot" descr="Streamlit Ask tab showing a cited answer and the pseudonymised prompt sent to the model">    </p:cNvPr>
          <p:cNvPicPr>
            <a:picLocks noChangeAspect="1"/>
          </p:cNvPicPr>
          <p:nvPr/>
        </p:nvPicPr>
        <p:blipFill>
          <a:blip r:embed="rId1"/>
          <a:stretch>
            <a:fillRect/>
          </a:stretch>
        </p:blipFill>
        <p:spPr>
          <a:xfrm>
            <a:off x="4069080" y="1234440"/>
            <a:ext cx="4617720" cy="3479819"/>
          </a:xfrm>
          <a:prstGeom prst="rect">
            <a:avLst/>
          </a:prstGeom>
        </p:spPr>
      </p:pic>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Observability without a new leak</a:t>
            </a:r>
            <a:endParaRPr lang="en-US" sz="3000" dirty="0"/>
          </a:p>
        </p:txBody>
      </p:sp>
      <p:sp>
        <p:nvSpPr>
          <p:cNvPr id="3" name="Observability points"/>
          <p:cNvSpPr txBox="1"/>
          <p:nvPr/>
        </p:nvSpPr>
        <p:spPr>
          <a:xfrm>
            <a:off x="457200" y="1325880"/>
            <a:ext cx="3566160" cy="31089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Metrics, traces and one JSON log line per request</a:t>
            </a:r>
            <a:endParaRPr lang="en-US" sz="1400" dirty="0"/>
          </a:p>
          <a:p>
            <a:pPr marL="342900" indent="-342900">
              <a:spcAft>
                <a:spcPts val="600"/>
              </a:spcAft>
              <a:buSzPct val="100000"/>
              <a:buChar char="•"/>
            </a:pPr>
            <a:r>
              <a:rPr lang="en-US" sz="1400" dirty="0">
                <a:solidFill>
                  <a:schemeClr val="tx1"/>
                </a:solidFill>
              </a:rPr>
              <a:t>Questions kept only as a keyed hash and length</a:t>
            </a:r>
            <a:endParaRPr lang="en-US" sz="1400" dirty="0"/>
          </a:p>
          <a:p>
            <a:pPr marL="342900" indent="-342900">
              <a:spcAft>
                <a:spcPts val="600"/>
              </a:spcAft>
              <a:buSzPct val="100000"/>
              <a:buChar char="•"/>
            </a:pPr>
            <a:r>
              <a:rPr lang="en-US" sz="1400" dirty="0">
                <a:solidFill>
                  <a:schemeClr val="tx1"/>
                </a:solidFill>
              </a:rPr>
              <a:t>Closed label sets; feedback is reason codes only</a:t>
            </a:r>
            <a:endParaRPr lang="en-US" sz="1400" dirty="0"/>
          </a:p>
          <a:p>
            <a:pPr marL="342900" indent="-342900">
              <a:spcAft>
                <a:spcPts val="600"/>
              </a:spcAft>
              <a:buSzPct val="100000"/>
              <a:buChar char="•"/>
            </a:pPr>
            <a:r>
              <a:rPr lang="en-US" sz="1400" dirty="0">
                <a:solidFill>
                  <a:schemeClr val="tx1"/>
                </a:solidFill>
              </a:rPr>
              <a:t>Alerts for identifiers in a prompt or a failed de-identification</a:t>
            </a:r>
            <a:endParaRPr lang="en-US" sz="1400" dirty="0"/>
          </a:p>
        </p:txBody>
      </p:sp>
      <p:pic>
        <p:nvPicPr>
          <p:cNvPr id="4" name="Observability screenshot" descr="Streamlit Observability tab with request counts, latency, health checks and guardrail interventions">    </p:cNvPr>
          <p:cNvPicPr>
            <a:picLocks noChangeAspect="1"/>
          </p:cNvPicPr>
          <p:nvPr/>
        </p:nvPicPr>
        <p:blipFill>
          <a:blip r:embed="rId1"/>
          <a:stretch>
            <a:fillRect/>
          </a:stretch>
        </p:blipFill>
        <p:spPr>
          <a:xfrm>
            <a:off x="4206240" y="1325880"/>
            <a:ext cx="4480560" cy="2834004"/>
          </a:xfrm>
          <a:prstGeom prst="rect">
            <a:avLst/>
          </a:prstGeom>
        </p:spPr>
      </p:pic>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One stage dominates latency</a:t>
            </a:r>
            <a:endParaRPr lang="en-US" sz="3000" dirty="0"/>
          </a:p>
        </p:txBody>
      </p:sp>
      <p:sp>
        <p:nvSpPr>
          <p:cNvPr id="3" name="Latency semantic card"/>
          <p:cNvSpPr/>
          <p:nvPr/>
        </p:nvSpPr>
        <p:spPr>
          <a:xfrm>
            <a:off x="457200" y="1280160"/>
            <a:ext cx="2926080" cy="1417320"/>
          </a:xfrm>
          <a:prstGeom prst="roundRect">
            <a:avLst>
              <a:gd name="adj" fmla="val 5161"/>
            </a:avLst>
          </a:prstGeom>
          <a:solidFill>
            <a:schemeClr val="bg2"/>
          </a:solidFill>
          <a:ln w="12700">
            <a:solidFill>
              <a:schemeClr val="bg2"/>
            </a:solidFill>
            <a:prstDash val="solid"/>
          </a:ln>
        </p:spPr>
      </p:sp>
      <p:sp>
        <p:nvSpPr>
          <p:cNvPr id="4" name="Latency semantic value"/>
          <p:cNvSpPr txBox="1"/>
          <p:nvPr/>
        </p:nvSpPr>
        <p:spPr>
          <a:xfrm>
            <a:off x="640080" y="1389888"/>
            <a:ext cx="256032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241 ms</a:t>
            </a:r>
            <a:endParaRPr lang="en-US" sz="4000" dirty="0"/>
          </a:p>
        </p:txBody>
      </p:sp>
      <p:sp>
        <p:nvSpPr>
          <p:cNvPr id="5" name="Latency semantic label"/>
          <p:cNvSpPr txBox="1"/>
          <p:nvPr/>
        </p:nvSpPr>
        <p:spPr>
          <a:xfrm>
            <a:off x="640080" y="2103120"/>
            <a:ext cx="2560320" cy="502920"/>
          </a:xfrm>
          <a:prstGeom prst="rect">
            <a:avLst/>
          </a:prstGeom>
          <a:noFill/>
          <a:ln/>
        </p:spPr>
        <p:txBody>
          <a:bodyPr wrap="square" lIns="0" tIns="0" rIns="0" bIns="0" rtlCol="0" anchor="t"/>
          <a:lstStyle/>
          <a:p>
            <a:pPr indent="0" marL="0">
              <a:buNone/>
            </a:pPr>
            <a:r>
              <a:rPr lang="en-US" sz="1400" dirty="0">
                <a:solidFill>
                  <a:schemeClr val="tx1"/>
                </a:solidFill>
              </a:rPr>
              <a:t>median per question, semantic profile (95th: 418 ms)</a:t>
            </a:r>
            <a:endParaRPr lang="en-US" sz="1400" dirty="0"/>
          </a:p>
        </p:txBody>
      </p:sp>
      <p:sp>
        <p:nvSpPr>
          <p:cNvPr id="6" name="Latency offline card"/>
          <p:cNvSpPr/>
          <p:nvPr/>
        </p:nvSpPr>
        <p:spPr>
          <a:xfrm>
            <a:off x="457200" y="2880360"/>
            <a:ext cx="2926080" cy="1417320"/>
          </a:xfrm>
          <a:prstGeom prst="roundRect">
            <a:avLst>
              <a:gd name="adj" fmla="val 5161"/>
            </a:avLst>
          </a:prstGeom>
          <a:solidFill>
            <a:schemeClr val="bg2"/>
          </a:solidFill>
          <a:ln w="12700">
            <a:solidFill>
              <a:schemeClr val="bg2"/>
            </a:solidFill>
            <a:prstDash val="solid"/>
          </a:ln>
        </p:spPr>
      </p:sp>
      <p:sp>
        <p:nvSpPr>
          <p:cNvPr id="7" name="Latency offline value"/>
          <p:cNvSpPr txBox="1"/>
          <p:nvPr/>
        </p:nvSpPr>
        <p:spPr>
          <a:xfrm>
            <a:off x="640080" y="2990088"/>
            <a:ext cx="256032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2.2 ms</a:t>
            </a:r>
            <a:endParaRPr lang="en-US" sz="4000" dirty="0"/>
          </a:p>
        </p:txBody>
      </p:sp>
      <p:sp>
        <p:nvSpPr>
          <p:cNvPr id="8" name="Latency offline label"/>
          <p:cNvSpPr txBox="1"/>
          <p:nvPr/>
        </p:nvSpPr>
        <p:spPr>
          <a:xfrm>
            <a:off x="640080" y="3703320"/>
            <a:ext cx="2560320" cy="502920"/>
          </a:xfrm>
          <a:prstGeom prst="rect">
            <a:avLst/>
          </a:prstGeom>
          <a:noFill/>
          <a:ln/>
        </p:spPr>
        <p:txBody>
          <a:bodyPr wrap="square" lIns="0" tIns="0" rIns="0" bIns="0" rtlCol="0" anchor="t"/>
          <a:lstStyle/>
          <a:p>
            <a:pPr indent="0" marL="0">
              <a:buNone/>
            </a:pPr>
            <a:r>
              <a:rPr lang="en-US" sz="1400" dirty="0">
                <a:solidFill>
                  <a:schemeClr val="tx1"/>
                </a:solidFill>
              </a:rPr>
              <a:t>median per question, offline profile (95th: 5.5 ms)</a:t>
            </a:r>
            <a:endParaRPr lang="en-US" sz="1400" dirty="0"/>
          </a:p>
        </p:txBody>
      </p:sp>
      <p:graphicFrame>
        <p:nvGraphicFramePr>
          <p:cNvPr id="9" name="Stage latency" descr=""/>
          <p:cNvGraphicFramePr/>
          <p:nvPr/>
        </p:nvGraphicFramePr>
        <p:xfrm>
          <a:off x="3657600" y="1234440"/>
          <a:ext cx="5029200" cy="3108960"/>
        </p:xfrm>
        <a:graphic xmlns:a="http://schemas.openxmlformats.org/drawingml/2006/main">
          <a:graphicData uri="http://schemas.openxmlformats.org/drawingml/2006/chart">
            <c:chart xmlns:c="http://schemas.openxmlformats.org/drawingml/2006/chart" r:id="rId1"/>
          </a:graphicData>
        </a:graphic>
      </p:graphicFrame>
      <p:sp>
        <p:nvSpPr>
          <p:cNvPr id="10" name="Latency caption"/>
          <p:cNvSpPr txBox="1"/>
          <p:nvPr/>
        </p:nvSpPr>
        <p:spPr>
          <a:xfrm>
            <a:off x="3657600" y="4389120"/>
            <a:ext cx="5029200" cy="365760"/>
          </a:xfrm>
          <a:prstGeom prst="rect">
            <a:avLst/>
          </a:prstGeom>
          <a:noFill/>
          <a:ln/>
        </p:spPr>
        <p:txBody>
          <a:bodyPr wrap="square" lIns="0" tIns="0" rIns="0" bIns="0" rtlCol="0" anchor="t"/>
          <a:lstStyle/>
          <a:p>
            <a:pPr indent="0" marL="0">
              <a:buNone/>
            </a:pPr>
            <a:r>
              <a:rPr lang="en-US" sz="1200" dirty="0">
                <a:solidFill>
                  <a:schemeClr val="accent5"/>
                </a:solidFill>
              </a:rPr>
              <a:t>Mean milliseconds per stage, semantic profile, CPU only. Found with per-stage spans.</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Results at a glance</a:t>
            </a:r>
            <a:endParaRPr lang="en-US" sz="3000" dirty="0"/>
          </a:p>
        </p:txBody>
      </p:sp>
      <p:sp>
        <p:nvSpPr>
          <p:cNvPr id="3" name="Result 1 card"/>
          <p:cNvSpPr/>
          <p:nvPr/>
        </p:nvSpPr>
        <p:spPr>
          <a:xfrm>
            <a:off x="457200" y="1280160"/>
            <a:ext cx="2560320" cy="1417320"/>
          </a:xfrm>
          <a:prstGeom prst="roundRect">
            <a:avLst>
              <a:gd name="adj" fmla="val 5161"/>
            </a:avLst>
          </a:prstGeom>
          <a:solidFill>
            <a:schemeClr val="bg2"/>
          </a:solidFill>
          <a:ln w="12700">
            <a:solidFill>
              <a:schemeClr val="bg2"/>
            </a:solidFill>
            <a:prstDash val="solid"/>
          </a:ln>
        </p:spPr>
      </p:sp>
      <p:sp>
        <p:nvSpPr>
          <p:cNvPr id="4" name="Result 1 value"/>
          <p:cNvSpPr txBox="1"/>
          <p:nvPr/>
        </p:nvSpPr>
        <p:spPr>
          <a:xfrm>
            <a:off x="640080" y="1389888"/>
            <a:ext cx="219456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0.98</a:t>
            </a:r>
            <a:endParaRPr lang="en-US" sz="4000" dirty="0"/>
          </a:p>
        </p:txBody>
      </p:sp>
      <p:sp>
        <p:nvSpPr>
          <p:cNvPr id="5" name="Result 1 label"/>
          <p:cNvSpPr txBox="1"/>
          <p:nvPr/>
        </p:nvSpPr>
        <p:spPr>
          <a:xfrm>
            <a:off x="640080" y="2103120"/>
            <a:ext cx="2194560" cy="502920"/>
          </a:xfrm>
          <a:prstGeom prst="rect">
            <a:avLst/>
          </a:prstGeom>
          <a:noFill/>
          <a:ln/>
        </p:spPr>
        <p:txBody>
          <a:bodyPr wrap="square" lIns="0" tIns="0" rIns="0" bIns="0" rtlCol="0" anchor="t"/>
          <a:lstStyle/>
          <a:p>
            <a:pPr indent="0" marL="0">
              <a:buNone/>
            </a:pPr>
            <a:r>
              <a:rPr lang="en-US" sz="1400" dirty="0">
                <a:solidFill>
                  <a:schemeClr val="tx1"/>
                </a:solidFill>
              </a:rPr>
              <a:t>end-to-end status accuracy</a:t>
            </a:r>
            <a:endParaRPr lang="en-US" sz="1400" dirty="0"/>
          </a:p>
        </p:txBody>
      </p:sp>
      <p:sp>
        <p:nvSpPr>
          <p:cNvPr id="6" name="Result 2 card"/>
          <p:cNvSpPr/>
          <p:nvPr/>
        </p:nvSpPr>
        <p:spPr>
          <a:xfrm>
            <a:off x="3291840" y="1280160"/>
            <a:ext cx="2560320" cy="1417320"/>
          </a:xfrm>
          <a:prstGeom prst="roundRect">
            <a:avLst>
              <a:gd name="adj" fmla="val 5161"/>
            </a:avLst>
          </a:prstGeom>
          <a:solidFill>
            <a:schemeClr val="bg2"/>
          </a:solidFill>
          <a:ln w="12700">
            <a:solidFill>
              <a:schemeClr val="bg2"/>
            </a:solidFill>
            <a:prstDash val="solid"/>
          </a:ln>
        </p:spPr>
      </p:sp>
      <p:sp>
        <p:nvSpPr>
          <p:cNvPr id="7" name="Result 2 value"/>
          <p:cNvSpPr txBox="1"/>
          <p:nvPr/>
        </p:nvSpPr>
        <p:spPr>
          <a:xfrm>
            <a:off x="3474720" y="1389888"/>
            <a:ext cx="219456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0.96</a:t>
            </a:r>
            <a:endParaRPr lang="en-US" sz="4000" dirty="0"/>
          </a:p>
        </p:txBody>
      </p:sp>
      <p:sp>
        <p:nvSpPr>
          <p:cNvPr id="8" name="Result 2 label"/>
          <p:cNvSpPr txBox="1"/>
          <p:nvPr/>
        </p:nvSpPr>
        <p:spPr>
          <a:xfrm>
            <a:off x="3474720" y="2103120"/>
            <a:ext cx="2194560" cy="502920"/>
          </a:xfrm>
          <a:prstGeom prst="rect">
            <a:avLst/>
          </a:prstGeom>
          <a:noFill/>
          <a:ln/>
        </p:spPr>
        <p:txBody>
          <a:bodyPr wrap="square" lIns="0" tIns="0" rIns="0" bIns="0" rtlCol="0" anchor="t"/>
          <a:lstStyle/>
          <a:p>
            <a:pPr indent="0" marL="0">
              <a:buNone/>
            </a:pPr>
            <a:r>
              <a:rPr lang="en-US" sz="1400" dirty="0">
                <a:solidFill>
                  <a:schemeClr val="tx1"/>
                </a:solidFill>
              </a:rPr>
              <a:t>answers cite the right passage</a:t>
            </a:r>
            <a:endParaRPr lang="en-US" sz="1400" dirty="0"/>
          </a:p>
        </p:txBody>
      </p:sp>
      <p:sp>
        <p:nvSpPr>
          <p:cNvPr id="9" name="Result 3 card"/>
          <p:cNvSpPr/>
          <p:nvPr/>
        </p:nvSpPr>
        <p:spPr>
          <a:xfrm>
            <a:off x="6126480" y="1280160"/>
            <a:ext cx="2560320" cy="1417320"/>
          </a:xfrm>
          <a:prstGeom prst="roundRect">
            <a:avLst>
              <a:gd name="adj" fmla="val 5161"/>
            </a:avLst>
          </a:prstGeom>
          <a:solidFill>
            <a:schemeClr val="bg2"/>
          </a:solidFill>
          <a:ln w="12700">
            <a:solidFill>
              <a:schemeClr val="bg2"/>
            </a:solidFill>
            <a:prstDash val="solid"/>
          </a:ln>
        </p:spPr>
      </p:sp>
      <p:sp>
        <p:nvSpPr>
          <p:cNvPr id="10" name="Result 3 value"/>
          <p:cNvSpPr txBox="1"/>
          <p:nvPr/>
        </p:nvSpPr>
        <p:spPr>
          <a:xfrm>
            <a:off x="6309360" y="1389888"/>
            <a:ext cx="219456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100%</a:t>
            </a:r>
            <a:endParaRPr lang="en-US" sz="4000" dirty="0"/>
          </a:p>
        </p:txBody>
      </p:sp>
      <p:sp>
        <p:nvSpPr>
          <p:cNvPr id="11" name="Result 3 label"/>
          <p:cNvSpPr txBox="1"/>
          <p:nvPr/>
        </p:nvSpPr>
        <p:spPr>
          <a:xfrm>
            <a:off x="6309360" y="2103120"/>
            <a:ext cx="2194560" cy="502920"/>
          </a:xfrm>
          <a:prstGeom prst="rect">
            <a:avLst/>
          </a:prstGeom>
          <a:noFill/>
          <a:ln/>
        </p:spPr>
        <p:txBody>
          <a:bodyPr wrap="square" lIns="0" tIns="0" rIns="0" bIns="0" rtlCol="0" anchor="t"/>
          <a:lstStyle/>
          <a:p>
            <a:pPr indent="0" marL="0">
              <a:buNone/>
            </a:pPr>
            <a:r>
              <a:rPr lang="en-US" sz="1400" dirty="0">
                <a:solidFill>
                  <a:schemeClr val="tx1"/>
                </a:solidFill>
              </a:rPr>
              <a:t>injection attempts blocked</a:t>
            </a:r>
            <a:endParaRPr lang="en-US" sz="1400" dirty="0"/>
          </a:p>
        </p:txBody>
      </p:sp>
      <p:sp>
        <p:nvSpPr>
          <p:cNvPr id="12" name="Result 4 card"/>
          <p:cNvSpPr/>
          <p:nvPr/>
        </p:nvSpPr>
        <p:spPr>
          <a:xfrm>
            <a:off x="457200" y="2880360"/>
            <a:ext cx="2560320" cy="1417320"/>
          </a:xfrm>
          <a:prstGeom prst="roundRect">
            <a:avLst>
              <a:gd name="adj" fmla="val 5161"/>
            </a:avLst>
          </a:prstGeom>
          <a:solidFill>
            <a:schemeClr val="bg2"/>
          </a:solidFill>
          <a:ln w="12700">
            <a:solidFill>
              <a:schemeClr val="bg2"/>
            </a:solidFill>
            <a:prstDash val="solid"/>
          </a:ln>
        </p:spPr>
      </p:sp>
      <p:sp>
        <p:nvSpPr>
          <p:cNvPr id="13" name="Result 4 value"/>
          <p:cNvSpPr txBox="1"/>
          <p:nvPr/>
        </p:nvSpPr>
        <p:spPr>
          <a:xfrm>
            <a:off x="640080" y="2990088"/>
            <a:ext cx="219456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0</a:t>
            </a:r>
            <a:endParaRPr lang="en-US" sz="4000" dirty="0"/>
          </a:p>
        </p:txBody>
      </p:sp>
      <p:sp>
        <p:nvSpPr>
          <p:cNvPr id="14" name="Result 4 label"/>
          <p:cNvSpPr txBox="1"/>
          <p:nvPr/>
        </p:nvSpPr>
        <p:spPr>
          <a:xfrm>
            <a:off x="640080" y="3703320"/>
            <a:ext cx="2194560" cy="502920"/>
          </a:xfrm>
          <a:prstGeom prst="rect">
            <a:avLst/>
          </a:prstGeom>
          <a:noFill/>
          <a:ln/>
        </p:spPr>
        <p:txBody>
          <a:bodyPr wrap="square" lIns="0" tIns="0" rIns="0" bIns="0" rtlCol="0" anchor="t"/>
          <a:lstStyle/>
          <a:p>
            <a:pPr indent="0" marL="0">
              <a:buNone/>
            </a:pPr>
            <a:r>
              <a:rPr lang="en-US" sz="1400" dirty="0">
                <a:solidFill>
                  <a:schemeClr val="tx1"/>
                </a:solidFill>
              </a:rPr>
              <a:t>identifiers in prompts or answers</a:t>
            </a:r>
            <a:endParaRPr lang="en-US" sz="1400" dirty="0"/>
          </a:p>
        </p:txBody>
      </p:sp>
      <p:sp>
        <p:nvSpPr>
          <p:cNvPr id="15" name="Result 5 card"/>
          <p:cNvSpPr/>
          <p:nvPr/>
        </p:nvSpPr>
        <p:spPr>
          <a:xfrm>
            <a:off x="3291840" y="2880360"/>
            <a:ext cx="2560320" cy="1417320"/>
          </a:xfrm>
          <a:prstGeom prst="roundRect">
            <a:avLst>
              <a:gd name="adj" fmla="val 5161"/>
            </a:avLst>
          </a:prstGeom>
          <a:solidFill>
            <a:schemeClr val="bg2"/>
          </a:solidFill>
          <a:ln w="12700">
            <a:solidFill>
              <a:schemeClr val="bg2"/>
            </a:solidFill>
            <a:prstDash val="solid"/>
          </a:ln>
        </p:spPr>
      </p:sp>
      <p:sp>
        <p:nvSpPr>
          <p:cNvPr id="16" name="Result 5 value"/>
          <p:cNvSpPr txBox="1"/>
          <p:nvPr/>
        </p:nvSpPr>
        <p:spPr>
          <a:xfrm>
            <a:off x="3474720" y="2990088"/>
            <a:ext cx="219456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100%</a:t>
            </a:r>
            <a:endParaRPr lang="en-US" sz="4000" dirty="0"/>
          </a:p>
        </p:txBody>
      </p:sp>
      <p:sp>
        <p:nvSpPr>
          <p:cNvPr id="17" name="Result 5 label"/>
          <p:cNvSpPr txBox="1"/>
          <p:nvPr/>
        </p:nvSpPr>
        <p:spPr>
          <a:xfrm>
            <a:off x="3474720" y="3703320"/>
            <a:ext cx="2194560" cy="502920"/>
          </a:xfrm>
          <a:prstGeom prst="rect">
            <a:avLst/>
          </a:prstGeom>
          <a:noFill/>
          <a:ln/>
        </p:spPr>
        <p:txBody>
          <a:bodyPr wrap="square" lIns="0" tIns="0" rIns="0" bIns="0" rtlCol="0" anchor="t"/>
          <a:lstStyle/>
          <a:p>
            <a:pPr indent="0" marL="0">
              <a:buNone/>
            </a:pPr>
            <a:r>
              <a:rPr lang="en-US" sz="1400" dirty="0">
                <a:solidFill>
                  <a:schemeClr val="tx1"/>
                </a:solidFill>
              </a:rPr>
              <a:t>planted report identifiers removed</a:t>
            </a:r>
            <a:endParaRPr lang="en-US" sz="1400" dirty="0"/>
          </a:p>
        </p:txBody>
      </p:sp>
      <p:sp>
        <p:nvSpPr>
          <p:cNvPr id="18" name="Result 6 card"/>
          <p:cNvSpPr/>
          <p:nvPr/>
        </p:nvSpPr>
        <p:spPr>
          <a:xfrm>
            <a:off x="6126480" y="2880360"/>
            <a:ext cx="2560320" cy="1417320"/>
          </a:xfrm>
          <a:prstGeom prst="roundRect">
            <a:avLst>
              <a:gd name="adj" fmla="val 5161"/>
            </a:avLst>
          </a:prstGeom>
          <a:solidFill>
            <a:schemeClr val="bg2"/>
          </a:solidFill>
          <a:ln w="12700">
            <a:solidFill>
              <a:schemeClr val="bg2"/>
            </a:solidFill>
            <a:prstDash val="solid"/>
          </a:ln>
        </p:spPr>
      </p:sp>
      <p:sp>
        <p:nvSpPr>
          <p:cNvPr id="19" name="Result 6 value"/>
          <p:cNvSpPr txBox="1"/>
          <p:nvPr/>
        </p:nvSpPr>
        <p:spPr>
          <a:xfrm>
            <a:off x="6309360" y="2990088"/>
            <a:ext cx="2194560"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0.75</a:t>
            </a:r>
            <a:endParaRPr lang="en-US" sz="4000" dirty="0"/>
          </a:p>
        </p:txBody>
      </p:sp>
      <p:sp>
        <p:nvSpPr>
          <p:cNvPr id="20" name="Result 6 label"/>
          <p:cNvSpPr txBox="1"/>
          <p:nvPr/>
        </p:nvSpPr>
        <p:spPr>
          <a:xfrm>
            <a:off x="6309360" y="3703320"/>
            <a:ext cx="2194560" cy="502920"/>
          </a:xfrm>
          <a:prstGeom prst="rect">
            <a:avLst/>
          </a:prstGeom>
          <a:noFill/>
          <a:ln/>
        </p:spPr>
        <p:txBody>
          <a:bodyPr wrap="square" lIns="0" tIns="0" rIns="0" bIns="0" rtlCol="0" anchor="t"/>
          <a:lstStyle/>
          <a:p>
            <a:pPr indent="0" marL="0">
              <a:buNone/>
            </a:pPr>
            <a:r>
              <a:rPr lang="en-US" sz="1400" dirty="0">
                <a:solidFill>
                  <a:schemeClr val="tx1"/>
                </a:solidFill>
              </a:rPr>
              <a:t>unanswerable questions declined</a:t>
            </a:r>
            <a:endParaRPr lang="en-US" sz="1400" dirty="0"/>
          </a:p>
        </p:txBody>
      </p:sp>
      <p:sp>
        <p:nvSpPr>
          <p:cNvPr id="21" name="Results caption"/>
          <p:cNvSpPr txBox="1"/>
          <p:nvPr/>
        </p:nvSpPr>
        <p:spPr>
          <a:xfrm>
            <a:off x="457200" y="4389120"/>
            <a:ext cx="8229600" cy="384048"/>
          </a:xfrm>
          <a:prstGeom prst="rect">
            <a:avLst/>
          </a:prstGeom>
          <a:noFill/>
          <a:ln/>
        </p:spPr>
        <p:txBody>
          <a:bodyPr wrap="square" lIns="0" tIns="0" rIns="0" bIns="0" rtlCol="0" anchor="t"/>
          <a:lstStyle/>
          <a:p>
            <a:pPr indent="0" marL="0">
              <a:buNone/>
            </a:pPr>
            <a:r>
              <a:rPr lang="en-US" sz="1200" dirty="0">
                <a:solidFill>
                  <a:schemeClr val="accent5"/>
                </a:solidFill>
              </a:rPr>
              <a:t>Semantic profile, 59 evaluation cases. The 0.75 is the known gap: an on-topic question with no answer in the knowledge base still gets a reply.</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What is verified, and what is not</a:t>
            </a:r>
            <a:endParaRPr lang="en-US" sz="3000" dirty="0"/>
          </a:p>
        </p:txBody>
      </p:sp>
      <p:sp>
        <p:nvSpPr>
          <p:cNvPr id="3" name="Verified card"/>
          <p:cNvSpPr/>
          <p:nvPr/>
        </p:nvSpPr>
        <p:spPr>
          <a:xfrm>
            <a:off x="457200" y="1234440"/>
            <a:ext cx="2651760" cy="2834640"/>
          </a:xfrm>
          <a:prstGeom prst="roundRect">
            <a:avLst>
              <a:gd name="adj" fmla="val 2759"/>
            </a:avLst>
          </a:prstGeom>
          <a:solidFill>
            <a:schemeClr val="bg2"/>
          </a:solidFill>
          <a:ln w="12700">
            <a:solidFill>
              <a:schemeClr val="bg2"/>
            </a:solidFill>
            <a:prstDash val="solid"/>
          </a:ln>
        </p:spPr>
      </p:sp>
      <p:sp>
        <p:nvSpPr>
          <p:cNvPr id="4" name="Verified dot"/>
          <p:cNvSpPr/>
          <p:nvPr/>
        </p:nvSpPr>
        <p:spPr>
          <a:xfrm>
            <a:off x="685800" y="1444752"/>
            <a:ext cx="201168" cy="201168"/>
          </a:xfrm>
          <a:prstGeom prst="ellipse">
            <a:avLst/>
          </a:prstGeom>
          <a:solidFill>
            <a:schemeClr val="accent3"/>
          </a:solidFill>
          <a:ln w="12700">
            <a:solidFill>
              <a:schemeClr val="accent3"/>
            </a:solidFill>
            <a:prstDash val="solid"/>
          </a:ln>
        </p:spPr>
      </p:sp>
      <p:sp>
        <p:nvSpPr>
          <p:cNvPr id="5" name="Verified head"/>
          <p:cNvSpPr txBox="1"/>
          <p:nvPr/>
        </p:nvSpPr>
        <p:spPr>
          <a:xfrm>
            <a:off x="1005840" y="1353312"/>
            <a:ext cx="2011680" cy="411480"/>
          </a:xfrm>
          <a:prstGeom prst="rect">
            <a:avLst/>
          </a:prstGeom>
          <a:noFill/>
          <a:ln/>
        </p:spPr>
        <p:txBody>
          <a:bodyPr wrap="square" lIns="0" tIns="0" rIns="0" bIns="0" rtlCol="0" anchor="ctr"/>
          <a:lstStyle/>
          <a:p>
            <a:pPr indent="0" marL="0">
              <a:buNone/>
            </a:pPr>
            <a:r>
              <a:rPr lang="en-US" sz="1600" b="1" dirty="0">
                <a:solidFill>
                  <a:schemeClr val="tx1"/>
                </a:solidFill>
              </a:rPr>
              <a:t>Verified</a:t>
            </a:r>
            <a:endParaRPr lang="en-US" sz="1600" dirty="0"/>
          </a:p>
        </p:txBody>
      </p:sp>
      <p:sp>
        <p:nvSpPr>
          <p:cNvPr id="6" name="Verified points"/>
          <p:cNvSpPr txBox="1"/>
          <p:nvPr/>
        </p:nvSpPr>
        <p:spPr>
          <a:xfrm>
            <a:off x="685800" y="1920240"/>
            <a:ext cx="2240280" cy="2057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82 tests pass</a:t>
            </a:r>
            <a:endParaRPr lang="en-US" sz="1400" dirty="0"/>
          </a:p>
          <a:p>
            <a:pPr marL="342900" indent="-342900">
              <a:spcAft>
                <a:spcPts val="600"/>
              </a:spcAft>
              <a:buSzPct val="100000"/>
              <a:buChar char="•"/>
            </a:pPr>
            <a:r>
              <a:rPr lang="en-US" sz="1400" dirty="0">
                <a:solidFill>
                  <a:schemeClr val="tx1"/>
                </a:solidFill>
              </a:rPr>
              <a:t>Eval gates on 59 cases</a:t>
            </a:r>
            <a:endParaRPr lang="en-US" sz="1400" dirty="0"/>
          </a:p>
          <a:p>
            <a:pPr marL="342900" indent="-342900">
              <a:spcAft>
                <a:spcPts val="600"/>
              </a:spcAft>
              <a:buSzPct val="100000"/>
              <a:buChar char="•"/>
            </a:pPr>
            <a:r>
              <a:rPr lang="en-US" sz="1400" dirty="0">
                <a:solidFill>
                  <a:schemeClr val="tx1"/>
                </a:solidFill>
              </a:rPr>
              <a:t>promptfoo 38 of 38, live API</a:t>
            </a:r>
            <a:endParaRPr lang="en-US" sz="1400" dirty="0"/>
          </a:p>
          <a:p>
            <a:pPr marL="342900" indent="-342900">
              <a:spcAft>
                <a:spcPts val="600"/>
              </a:spcAft>
              <a:buSzPct val="100000"/>
              <a:buChar char="•"/>
            </a:pPr>
            <a:r>
              <a:rPr lang="en-US" sz="1400" dirty="0">
                <a:solidFill>
                  <a:schemeClr val="tx1"/>
                </a:solidFill>
              </a:rPr>
              <a:t>UI run over HTTP</a:t>
            </a:r>
            <a:endParaRPr lang="en-US" sz="1400" dirty="0"/>
          </a:p>
        </p:txBody>
      </p:sp>
      <p:sp>
        <p:nvSpPr>
          <p:cNvPr id="7" name="Not run card"/>
          <p:cNvSpPr/>
          <p:nvPr/>
        </p:nvSpPr>
        <p:spPr>
          <a:xfrm>
            <a:off x="3246120" y="1234440"/>
            <a:ext cx="2651760" cy="2834640"/>
          </a:xfrm>
          <a:prstGeom prst="roundRect">
            <a:avLst>
              <a:gd name="adj" fmla="val 2759"/>
            </a:avLst>
          </a:prstGeom>
          <a:solidFill>
            <a:schemeClr val="bg2"/>
          </a:solidFill>
          <a:ln w="12700">
            <a:solidFill>
              <a:schemeClr val="bg2"/>
            </a:solidFill>
            <a:prstDash val="solid"/>
          </a:ln>
        </p:spPr>
      </p:sp>
      <p:sp>
        <p:nvSpPr>
          <p:cNvPr id="8" name="Not run dot"/>
          <p:cNvSpPr/>
          <p:nvPr/>
        </p:nvSpPr>
        <p:spPr>
          <a:xfrm>
            <a:off x="3474720" y="1444752"/>
            <a:ext cx="201168" cy="201168"/>
          </a:xfrm>
          <a:prstGeom prst="ellipse">
            <a:avLst/>
          </a:prstGeom>
          <a:solidFill>
            <a:schemeClr val="accent4"/>
          </a:solidFill>
          <a:ln w="12700">
            <a:solidFill>
              <a:schemeClr val="accent4"/>
            </a:solidFill>
            <a:prstDash val="solid"/>
          </a:ln>
        </p:spPr>
      </p:sp>
      <p:sp>
        <p:nvSpPr>
          <p:cNvPr id="9" name="Not run head"/>
          <p:cNvSpPr txBox="1"/>
          <p:nvPr/>
        </p:nvSpPr>
        <p:spPr>
          <a:xfrm>
            <a:off x="3794760" y="1353312"/>
            <a:ext cx="2011680" cy="411480"/>
          </a:xfrm>
          <a:prstGeom prst="rect">
            <a:avLst/>
          </a:prstGeom>
          <a:noFill/>
          <a:ln/>
        </p:spPr>
        <p:txBody>
          <a:bodyPr wrap="square" lIns="0" tIns="0" rIns="0" bIns="0" rtlCol="0" anchor="ctr"/>
          <a:lstStyle/>
          <a:p>
            <a:pPr indent="0" marL="0">
              <a:buNone/>
            </a:pPr>
            <a:r>
              <a:rPr lang="en-US" sz="1600" b="1" dirty="0">
                <a:solidFill>
                  <a:schemeClr val="tx1"/>
                </a:solidFill>
              </a:rPr>
              <a:t>Written, not run</a:t>
            </a:r>
            <a:endParaRPr lang="en-US" sz="1600" dirty="0"/>
          </a:p>
        </p:txBody>
      </p:sp>
      <p:sp>
        <p:nvSpPr>
          <p:cNvPr id="10" name="Not run points"/>
          <p:cNvSpPr txBox="1"/>
          <p:nvPr/>
        </p:nvSpPr>
        <p:spPr>
          <a:xfrm>
            <a:off x="3474720" y="1920240"/>
            <a:ext cx="2240280" cy="2057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Docker image and compose</a:t>
            </a:r>
            <a:endParaRPr lang="en-US" sz="1400" dirty="0"/>
          </a:p>
          <a:p>
            <a:pPr marL="342900" indent="-342900">
              <a:spcAft>
                <a:spcPts val="600"/>
              </a:spcAft>
              <a:buSzPct val="100000"/>
              <a:buChar char="•"/>
            </a:pPr>
            <a:r>
              <a:rPr lang="en-US" sz="1400" dirty="0">
                <a:solidFill>
                  <a:schemeClr val="tx1"/>
                </a:solidFill>
              </a:rPr>
              <a:t>Prometheus rules, Grafana</a:t>
            </a:r>
            <a:endParaRPr lang="en-US" sz="1400" dirty="0"/>
          </a:p>
          <a:p>
            <a:pPr marL="342900" indent="-342900">
              <a:spcAft>
                <a:spcPts val="600"/>
              </a:spcAft>
              <a:buSzPct val="100000"/>
              <a:buChar char="•"/>
            </a:pPr>
            <a:r>
              <a:rPr lang="en-US" sz="1400" dirty="0">
                <a:solidFill>
                  <a:schemeClr val="tx1"/>
                </a:solidFill>
              </a:rPr>
              <a:t>Generative red-team</a:t>
            </a:r>
            <a:endParaRPr lang="en-US" sz="1400" dirty="0"/>
          </a:p>
          <a:p>
            <a:pPr marL="342900" indent="-342900">
              <a:spcAft>
                <a:spcPts val="600"/>
              </a:spcAft>
              <a:buSzPct val="100000"/>
              <a:buChar char="•"/>
            </a:pPr>
            <a:r>
              <a:rPr lang="en-US" sz="1400" dirty="0">
                <a:solidFill>
                  <a:schemeClr val="tx1"/>
                </a:solidFill>
              </a:rPr>
              <a:t>Real-LLM path</a:t>
            </a:r>
            <a:endParaRPr lang="en-US" sz="1400" dirty="0"/>
          </a:p>
        </p:txBody>
      </p:sp>
      <p:sp>
        <p:nvSpPr>
          <p:cNvPr id="11" name="Limits card"/>
          <p:cNvSpPr/>
          <p:nvPr/>
        </p:nvSpPr>
        <p:spPr>
          <a:xfrm>
            <a:off x="6035040" y="1234440"/>
            <a:ext cx="2651760" cy="2834640"/>
          </a:xfrm>
          <a:prstGeom prst="roundRect">
            <a:avLst>
              <a:gd name="adj" fmla="val 2759"/>
            </a:avLst>
          </a:prstGeom>
          <a:solidFill>
            <a:schemeClr val="bg2"/>
          </a:solidFill>
          <a:ln w="12700">
            <a:solidFill>
              <a:schemeClr val="bg2"/>
            </a:solidFill>
            <a:prstDash val="solid"/>
          </a:ln>
        </p:spPr>
      </p:sp>
      <p:sp>
        <p:nvSpPr>
          <p:cNvPr id="12" name="Limits dot"/>
          <p:cNvSpPr/>
          <p:nvPr/>
        </p:nvSpPr>
        <p:spPr>
          <a:xfrm>
            <a:off x="6263640" y="1444752"/>
            <a:ext cx="201168" cy="201168"/>
          </a:xfrm>
          <a:prstGeom prst="ellipse">
            <a:avLst/>
          </a:prstGeom>
          <a:solidFill>
            <a:schemeClr val="accent2"/>
          </a:solidFill>
          <a:ln w="12700">
            <a:solidFill>
              <a:schemeClr val="accent2"/>
            </a:solidFill>
            <a:prstDash val="solid"/>
          </a:ln>
        </p:spPr>
      </p:sp>
      <p:sp>
        <p:nvSpPr>
          <p:cNvPr id="13" name="Limits head"/>
          <p:cNvSpPr txBox="1"/>
          <p:nvPr/>
        </p:nvSpPr>
        <p:spPr>
          <a:xfrm>
            <a:off x="6583680" y="1353312"/>
            <a:ext cx="2011680" cy="411480"/>
          </a:xfrm>
          <a:prstGeom prst="rect">
            <a:avLst/>
          </a:prstGeom>
          <a:noFill/>
          <a:ln/>
        </p:spPr>
        <p:txBody>
          <a:bodyPr wrap="square" lIns="0" tIns="0" rIns="0" bIns="0" rtlCol="0" anchor="ctr"/>
          <a:lstStyle/>
          <a:p>
            <a:pPr indent="0" marL="0">
              <a:buNone/>
            </a:pPr>
            <a:r>
              <a:rPr lang="en-US" sz="1600" b="1" dirty="0">
                <a:solidFill>
                  <a:schemeClr val="tx1"/>
                </a:solidFill>
              </a:rPr>
              <a:t>Synthetic or limited</a:t>
            </a:r>
            <a:endParaRPr lang="en-US" sz="1600" dirty="0"/>
          </a:p>
        </p:txBody>
      </p:sp>
      <p:sp>
        <p:nvSpPr>
          <p:cNvPr id="14" name="Limits points"/>
          <p:cNvSpPr txBox="1"/>
          <p:nvPr/>
        </p:nvSpPr>
        <p:spPr>
          <a:xfrm>
            <a:off x="6263640" y="1920240"/>
            <a:ext cx="2240280" cy="2057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All data is invented</a:t>
            </a:r>
            <a:endParaRPr lang="en-US" sz="1400" dirty="0"/>
          </a:p>
          <a:p>
            <a:pPr marL="342900" indent="-342900">
              <a:spcAft>
                <a:spcPts val="600"/>
              </a:spcAft>
              <a:buSzPct val="100000"/>
              <a:buChar char="•"/>
            </a:pPr>
            <a:r>
              <a:rPr lang="en-US" sz="1400" dirty="0">
                <a:solidFill>
                  <a:schemeClr val="tx1"/>
                </a:solidFill>
              </a:rPr>
              <a:t>Detectors tested on my own reports</a:t>
            </a:r>
            <a:endParaRPr lang="en-US" sz="1400" dirty="0"/>
          </a:p>
          <a:p>
            <a:pPr marL="342900" indent="-342900">
              <a:spcAft>
                <a:spcPts val="600"/>
              </a:spcAft>
              <a:buSzPct val="100000"/>
              <a:buChar char="•"/>
            </a:pPr>
            <a:r>
              <a:rPr lang="en-US" sz="1400" dirty="0">
                <a:solidFill>
                  <a:schemeClr val="tx1"/>
                </a:solidFill>
              </a:rPr>
              <a:t>Policy numbers are placeholders</a:t>
            </a:r>
            <a:endParaRPr lang="en-US" sz="1400" dirty="0"/>
          </a:p>
          <a:p>
            <a:pPr marL="342900" indent="-342900">
              <a:spcAft>
                <a:spcPts val="600"/>
              </a:spcAft>
              <a:buSzPct val="100000"/>
              <a:buChar char="•"/>
            </a:pPr>
            <a:r>
              <a:rPr lang="en-US" sz="1400" dirty="0">
                <a:solidFill>
                  <a:schemeClr val="tx1"/>
                </a:solidFill>
              </a:rPr>
              <a:t>Small evaluation set</a:t>
            </a:r>
            <a:endParaRPr lang="en-US" sz="1400" dirty="0"/>
          </a:p>
        </p:txBody>
      </p:sp>
      <p:sp>
        <p:nvSpPr>
          <p:cNvPr id="15" name="Status note"/>
          <p:cNvSpPr txBox="1"/>
          <p:nvPr/>
        </p:nvSpPr>
        <p:spPr>
          <a:xfrm>
            <a:off x="457200" y="4297680"/>
            <a:ext cx="8229600" cy="365760"/>
          </a:xfrm>
          <a:prstGeom prst="rect">
            <a:avLst/>
          </a:prstGeom>
          <a:noFill/>
          <a:ln/>
        </p:spPr>
        <p:txBody>
          <a:bodyPr wrap="square" lIns="0" tIns="0" rIns="0" bIns="0" rtlCol="0" anchor="t"/>
          <a:lstStyle/>
          <a:p>
            <a:pPr indent="0" marL="0">
              <a:buNone/>
            </a:pPr>
            <a:r>
              <a:rPr lang="en-US" sz="1400" i="1" dirty="0">
                <a:solidFill>
                  <a:schemeClr val="accent5"/>
                </a:solidFill>
              </a:rPr>
              <a:t>The same three-way status is used in the project README, which doubles as the arc42 architecture documentation.</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Risks and next steps</a:t>
            </a:r>
            <a:endParaRPr lang="en-US" sz="3000" dirty="0"/>
          </a:p>
        </p:txBody>
      </p:sp>
      <p:sp>
        <p:nvSpPr>
          <p:cNvPr id="3" name="Risks heading"/>
          <p:cNvSpPr txBox="1"/>
          <p:nvPr/>
        </p:nvSpPr>
        <p:spPr>
          <a:xfrm>
            <a:off x="457200" y="1234440"/>
            <a:ext cx="3840480" cy="365760"/>
          </a:xfrm>
          <a:prstGeom prst="rect">
            <a:avLst/>
          </a:prstGeom>
          <a:noFill/>
          <a:ln/>
        </p:spPr>
        <p:txBody>
          <a:bodyPr wrap="square" lIns="0" tIns="0" rIns="0" bIns="0" rtlCol="0" anchor="ctr"/>
          <a:lstStyle/>
          <a:p>
            <a:pPr indent="0" marL="0">
              <a:buNone/>
            </a:pPr>
            <a:r>
              <a:rPr lang="en-US" sz="1800" b="1" dirty="0">
                <a:solidFill>
                  <a:schemeClr val="accent2"/>
                </a:solidFill>
                <a:latin typeface="Cambria" pitchFamily="34" charset="0"/>
                <a:ea typeface="Cambria" pitchFamily="34" charset="-122"/>
                <a:cs typeface="Cambria" pitchFamily="34" charset="-120"/>
              </a:rPr>
              <a:t>Top risks</a:t>
            </a:r>
            <a:endParaRPr lang="en-US" sz="1800" dirty="0"/>
          </a:p>
        </p:txBody>
      </p:sp>
      <p:sp>
        <p:nvSpPr>
          <p:cNvPr id="4" name="Risk points"/>
          <p:cNvSpPr txBox="1"/>
          <p:nvPr/>
        </p:nvSpPr>
        <p:spPr>
          <a:xfrm>
            <a:off x="457200" y="1691640"/>
            <a:ext cx="3840480" cy="28346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Unseen name formats slip past the detectors</a:t>
            </a:r>
            <a:endParaRPr lang="en-US" sz="1400" dirty="0"/>
          </a:p>
          <a:p>
            <a:pPr marL="342900" indent="-342900">
              <a:spcAft>
                <a:spcPts val="600"/>
              </a:spcAft>
              <a:buSzPct val="100000"/>
              <a:buChar char="•"/>
            </a:pPr>
            <a:r>
              <a:rPr lang="en-US" sz="1400" dirty="0">
                <a:solidFill>
                  <a:schemeClr val="tx1"/>
                </a:solidFill>
              </a:rPr>
              <a:t>Indirect identifiers hide in report free text</a:t>
            </a:r>
            <a:endParaRPr lang="en-US" sz="1400" dirty="0"/>
          </a:p>
          <a:p>
            <a:pPr marL="342900" indent="-342900">
              <a:spcAft>
                <a:spcPts val="600"/>
              </a:spcAft>
              <a:buSzPct val="100000"/>
              <a:buChar char="•"/>
            </a:pPr>
            <a:r>
              <a:rPr lang="en-US" sz="1400" dirty="0">
                <a:solidFill>
                  <a:schemeClr val="tx1"/>
                </a:solidFill>
              </a:rPr>
              <a:t>No end-user authentication yet</a:t>
            </a:r>
            <a:endParaRPr lang="en-US" sz="1400" dirty="0"/>
          </a:p>
          <a:p>
            <a:pPr marL="342900" indent="-342900">
              <a:spcAft>
                <a:spcPts val="600"/>
              </a:spcAft>
              <a:buSzPct val="100000"/>
              <a:buChar char="•"/>
            </a:pPr>
            <a:r>
              <a:rPr lang="en-US" sz="1400" dirty="0">
                <a:solidFill>
                  <a:schemeClr val="tx1"/>
                </a:solidFill>
              </a:rPr>
              <a:t>Real-LLM answer quality is unmeasured</a:t>
            </a:r>
            <a:endParaRPr lang="en-US" sz="1400" dirty="0"/>
          </a:p>
        </p:txBody>
      </p:sp>
      <p:sp>
        <p:nvSpPr>
          <p:cNvPr id="5" name="Next heading"/>
          <p:cNvSpPr txBox="1"/>
          <p:nvPr/>
        </p:nvSpPr>
        <p:spPr>
          <a:xfrm>
            <a:off x="4754880" y="1234440"/>
            <a:ext cx="3931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Next steps</a:t>
            </a:r>
            <a:endParaRPr lang="en-US" sz="1800" dirty="0"/>
          </a:p>
        </p:txBody>
      </p:sp>
      <p:sp>
        <p:nvSpPr>
          <p:cNvPr id="6" name="Next badge 1"/>
          <p:cNvSpPr/>
          <p:nvPr/>
        </p:nvSpPr>
        <p:spPr>
          <a:xfrm>
            <a:off x="4754880" y="1737360"/>
            <a:ext cx="384048" cy="384048"/>
          </a:xfrm>
          <a:prstGeom prst="ellipse">
            <a:avLst/>
          </a:prstGeom>
          <a:solidFill>
            <a:schemeClr val="accent1"/>
          </a:solidFill>
          <a:ln w="12700">
            <a:solidFill>
              <a:schemeClr val="accent1"/>
            </a:solidFill>
            <a:prstDash val="solid"/>
          </a:ln>
        </p:spPr>
      </p:sp>
      <p:sp>
        <p:nvSpPr>
          <p:cNvPr id="7" name="Next badge 1 number"/>
          <p:cNvSpPr txBox="1"/>
          <p:nvPr/>
        </p:nvSpPr>
        <p:spPr>
          <a:xfrm>
            <a:off x="4754880" y="173736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Next item 1"/>
          <p:cNvSpPr txBox="1"/>
          <p:nvPr/>
        </p:nvSpPr>
        <p:spPr>
          <a:xfrm>
            <a:off x="5285232" y="1700784"/>
            <a:ext cx="3401568" cy="822960"/>
          </a:xfrm>
          <a:prstGeom prst="rect">
            <a:avLst/>
          </a:prstGeom>
          <a:noFill/>
          <a:ln/>
        </p:spPr>
        <p:txBody>
          <a:bodyPr wrap="square" lIns="0" tIns="0" rIns="0" bIns="0" rtlCol="0" anchor="t"/>
          <a:lstStyle/>
          <a:p>
            <a:pPr indent="0" marL="0">
              <a:buNone/>
            </a:pPr>
            <a:r>
              <a:rPr lang="en-US" sz="1400" dirty="0">
                <a:solidFill>
                  <a:schemeClr val="tx1"/>
                </a:solidFill>
              </a:rPr>
              <a:t>Add NER and a human audit sample</a:t>
            </a:r>
            <a:endParaRPr lang="en-US" sz="1400" dirty="0"/>
          </a:p>
        </p:txBody>
      </p:sp>
      <p:sp>
        <p:nvSpPr>
          <p:cNvPr id="9" name="Next badge 2"/>
          <p:cNvSpPr/>
          <p:nvPr/>
        </p:nvSpPr>
        <p:spPr>
          <a:xfrm>
            <a:off x="4754880" y="2450592"/>
            <a:ext cx="384048" cy="384048"/>
          </a:xfrm>
          <a:prstGeom prst="ellipse">
            <a:avLst/>
          </a:prstGeom>
          <a:solidFill>
            <a:schemeClr val="accent1"/>
          </a:solidFill>
          <a:ln w="12700">
            <a:solidFill>
              <a:schemeClr val="accent1"/>
            </a:solidFill>
            <a:prstDash val="solid"/>
          </a:ln>
        </p:spPr>
      </p:sp>
      <p:sp>
        <p:nvSpPr>
          <p:cNvPr id="10" name="Next badge 2 number"/>
          <p:cNvSpPr txBox="1"/>
          <p:nvPr/>
        </p:nvSpPr>
        <p:spPr>
          <a:xfrm>
            <a:off x="4754880" y="245059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Next item 2"/>
          <p:cNvSpPr txBox="1"/>
          <p:nvPr/>
        </p:nvSpPr>
        <p:spPr>
          <a:xfrm>
            <a:off x="5285232" y="2414016"/>
            <a:ext cx="3401568" cy="822960"/>
          </a:xfrm>
          <a:prstGeom prst="rect">
            <a:avLst/>
          </a:prstGeom>
          <a:noFill/>
          <a:ln/>
        </p:spPr>
        <p:txBody>
          <a:bodyPr wrap="square" lIns="0" tIns="0" rIns="0" bIns="0" rtlCol="0" anchor="t"/>
          <a:lstStyle/>
          <a:p>
            <a:pPr indent="0" marL="0">
              <a:buNone/>
            </a:pPr>
            <a:r>
              <a:rPr lang="en-US" sz="1400" dirty="0">
                <a:solidFill>
                  <a:schemeClr val="tx1"/>
                </a:solidFill>
              </a:rPr>
              <a:t>Put the API behind an identity gateway</a:t>
            </a:r>
            <a:endParaRPr lang="en-US" sz="1400" dirty="0"/>
          </a:p>
        </p:txBody>
      </p:sp>
      <p:sp>
        <p:nvSpPr>
          <p:cNvPr id="12" name="Next badge 3"/>
          <p:cNvSpPr/>
          <p:nvPr/>
        </p:nvSpPr>
        <p:spPr>
          <a:xfrm>
            <a:off x="4754880" y="3163824"/>
            <a:ext cx="384048" cy="384048"/>
          </a:xfrm>
          <a:prstGeom prst="ellipse">
            <a:avLst/>
          </a:prstGeom>
          <a:solidFill>
            <a:schemeClr val="accent1"/>
          </a:solidFill>
          <a:ln w="12700">
            <a:solidFill>
              <a:schemeClr val="accent1"/>
            </a:solidFill>
            <a:prstDash val="solid"/>
          </a:ln>
        </p:spPr>
      </p:sp>
      <p:sp>
        <p:nvSpPr>
          <p:cNvPr id="13" name="Next badge 3 number"/>
          <p:cNvSpPr txBox="1"/>
          <p:nvPr/>
        </p:nvSpPr>
        <p:spPr>
          <a:xfrm>
            <a:off x="4754880" y="316382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Next item 3"/>
          <p:cNvSpPr txBox="1"/>
          <p:nvPr/>
        </p:nvSpPr>
        <p:spPr>
          <a:xfrm>
            <a:off x="5285232" y="3127248"/>
            <a:ext cx="3401568" cy="822960"/>
          </a:xfrm>
          <a:prstGeom prst="rect">
            <a:avLst/>
          </a:prstGeom>
          <a:noFill/>
          <a:ln/>
        </p:spPr>
        <p:txBody>
          <a:bodyPr wrap="square" lIns="0" tIns="0" rIns="0" bIns="0" rtlCol="0" anchor="t"/>
          <a:lstStyle/>
          <a:p>
            <a:pPr indent="0" marL="0">
              <a:buNone/>
            </a:pPr>
            <a:r>
              <a:rPr lang="en-US" sz="1400" dirty="0">
                <a:solidFill>
                  <a:schemeClr val="tx1"/>
                </a:solidFill>
              </a:rPr>
              <a:t>Run the eval and red-team on a real LLM</a:t>
            </a:r>
            <a:endParaRPr lang="en-US" sz="1400" dirty="0"/>
          </a:p>
        </p:txBody>
      </p:sp>
      <p:sp>
        <p:nvSpPr>
          <p:cNvPr id="15" name="Next badge 4"/>
          <p:cNvSpPr/>
          <p:nvPr/>
        </p:nvSpPr>
        <p:spPr>
          <a:xfrm>
            <a:off x="4754880" y="3877056"/>
            <a:ext cx="384048" cy="384048"/>
          </a:xfrm>
          <a:prstGeom prst="ellipse">
            <a:avLst/>
          </a:prstGeom>
          <a:solidFill>
            <a:schemeClr val="accent1"/>
          </a:solidFill>
          <a:ln w="12700">
            <a:solidFill>
              <a:schemeClr val="accent1"/>
            </a:solidFill>
            <a:prstDash val="solid"/>
          </a:ln>
        </p:spPr>
      </p:sp>
      <p:sp>
        <p:nvSpPr>
          <p:cNvPr id="16" name="Next badge 4 number"/>
          <p:cNvSpPr txBox="1"/>
          <p:nvPr/>
        </p:nvSpPr>
        <p:spPr>
          <a:xfrm>
            <a:off x="4754880" y="387705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Next item 4"/>
          <p:cNvSpPr txBox="1"/>
          <p:nvPr/>
        </p:nvSpPr>
        <p:spPr>
          <a:xfrm>
            <a:off x="5285232" y="3840480"/>
            <a:ext cx="3401568" cy="822960"/>
          </a:xfrm>
          <a:prstGeom prst="rect">
            <a:avLst/>
          </a:prstGeom>
          <a:noFill/>
          <a:ln/>
        </p:spPr>
        <p:txBody>
          <a:bodyPr wrap="square" lIns="0" tIns="0" rIns="0" bIns="0" rtlCol="0" anchor="t"/>
          <a:lstStyle/>
          <a:p>
            <a:pPr indent="0" marL="0">
              <a:buNone/>
            </a:pPr>
            <a:r>
              <a:rPr lang="en-US" sz="1400" dirty="0">
                <a:solidFill>
                  <a:schemeClr val="tx1"/>
                </a:solidFill>
              </a:rPr>
              <a:t>Quarantine reports that fail de-identification</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6583680" cy="1463040"/>
          </a:xfrm>
          <a:prstGeom prst="rect">
            <a:avLst/>
          </a:prstGeom>
          <a:noFill/>
          <a:ln/>
        </p:spPr>
        <p:txBody>
          <a:bodyPr wrap="square" lIns="0" tIns="0" rIns="0" bIns="0" rtlCol="0" anchor="b"/>
          <a:lstStyle/>
          <a:p>
            <a:pPr indent="0" marL="0">
              <a:buNone/>
            </a:pPr>
            <a:r>
              <a:rPr lang="en-US" sz="4000" b="1" dirty="0">
                <a:solidFill>
                  <a:schemeClr val="bg1"/>
                </a:solidFill>
              </a:rPr>
              <a:t>Answers with citations. Patients stay private.</a:t>
            </a:r>
            <a:endParaRPr lang="en-US" sz="4000" dirty="0"/>
          </a:p>
        </p:txBody>
      </p:sp>
      <p:sp>
        <p:nvSpPr>
          <p:cNvPr id="3" name="Text 0"/>
          <p:cNvSpPr/>
          <p:nvPr>
            <p:ph idx="101" type="body" hasCustomPrompt="1"/>
          </p:nvPr>
        </p:nvSpPr>
        <p:spPr>
          <a:xfrm>
            <a:off x="548640" y="3017520"/>
            <a:ext cx="6583680" cy="1097280"/>
          </a:xfrm>
          <a:prstGeom prst="rect">
            <a:avLst/>
          </a:prstGeom>
          <a:noFill/>
          <a:ln/>
        </p:spPr>
        <p:txBody>
          <a:bodyPr wrap="square" lIns="0" tIns="0" rIns="0" bIns="0" rtlCol="0" anchor="t"/>
          <a:lstStyle/>
          <a:p>
            <a:pPr indent="0" marL="0">
              <a:buNone/>
            </a:pPr>
            <a:r>
              <a:rPr lang="en-US" sz="1800" dirty="0">
                <a:solidFill>
                  <a:schemeClr val="accent6"/>
                </a:solidFill>
              </a:rPr>
              <a:t>README.md (arc42 architecture documentation)  |  docs/screenshots</a:t>
            </a:r>
            <a:endParaRPr lang="en-US" sz="1800" dirty="0"/>
          </a:p>
        </p:txBody>
      </p:sp>
      <p:sp>
        <p:nvSpPr>
          <p:cNvPr id="4" name="Closing chip 1"/>
          <p:cNvSpPr/>
          <p:nvPr/>
        </p:nvSpPr>
        <p:spPr>
          <a:xfrm>
            <a:off x="7269480" y="1097280"/>
            <a:ext cx="1229868" cy="310896"/>
          </a:xfrm>
          <a:prstGeom prst="roundRect">
            <a:avLst>
              <a:gd name="adj" fmla="val 50000"/>
            </a:avLst>
          </a:prstGeom>
          <a:solidFill>
            <a:schemeClr val="tx1">
              <a:alpha val="0"/>
            </a:schemeClr>
          </a:solidFill>
          <a:ln w="15875">
            <a:solidFill>
              <a:schemeClr val="accent3"/>
            </a:solidFill>
            <a:prstDash val="solid"/>
          </a:ln>
        </p:spPr>
      </p:sp>
      <p:sp>
        <p:nvSpPr>
          <p:cNvPr id="5" name="Closing chip 1 text"/>
          <p:cNvSpPr txBox="1"/>
          <p:nvPr/>
        </p:nvSpPr>
        <p:spPr>
          <a:xfrm>
            <a:off x="7269480" y="1097280"/>
            <a:ext cx="1229868" cy="310896"/>
          </a:xfrm>
          <a:prstGeom prst="rect">
            <a:avLst/>
          </a:prstGeom>
          <a:noFill/>
          <a:ln/>
        </p:spPr>
        <p:txBody>
          <a:bodyPr wrap="square" lIns="0" tIns="0" rIns="0" bIns="0" rtlCol="0" anchor="ctr"/>
          <a:lstStyle/>
          <a:p>
            <a:pPr algn="ctr" indent="0" marL="0">
              <a:buNone/>
            </a:pPr>
            <a:r>
              <a:rPr lang="en-US" sz="1200" b="1" dirty="0">
                <a:solidFill>
                  <a:schemeClr val="accent6"/>
                </a:solidFill>
                <a:latin typeface="Courier New" pitchFamily="34" charset="0"/>
                <a:ea typeface="Courier New" pitchFamily="34" charset="-122"/>
                <a:cs typeface="Courier New" pitchFamily="34" charset="-120"/>
              </a:rPr>
              <a:t>[PATIENT]</a:t>
            </a:r>
            <a:endParaRPr lang="en-US" sz="1200" dirty="0"/>
          </a:p>
        </p:txBody>
      </p:sp>
      <p:sp>
        <p:nvSpPr>
          <p:cNvPr id="6" name="Closing chip 2"/>
          <p:cNvSpPr/>
          <p:nvPr/>
        </p:nvSpPr>
        <p:spPr>
          <a:xfrm>
            <a:off x="7269480" y="1600200"/>
            <a:ext cx="845820" cy="310896"/>
          </a:xfrm>
          <a:prstGeom prst="roundRect">
            <a:avLst>
              <a:gd name="adj" fmla="val 50000"/>
            </a:avLst>
          </a:prstGeom>
          <a:solidFill>
            <a:schemeClr val="tx1">
              <a:alpha val="0"/>
            </a:schemeClr>
          </a:solidFill>
          <a:ln w="15875">
            <a:solidFill>
              <a:schemeClr val="accent3"/>
            </a:solidFill>
            <a:prstDash val="solid"/>
          </a:ln>
        </p:spPr>
      </p:sp>
      <p:sp>
        <p:nvSpPr>
          <p:cNvPr id="7" name="Closing chip 2 text"/>
          <p:cNvSpPr txBox="1"/>
          <p:nvPr/>
        </p:nvSpPr>
        <p:spPr>
          <a:xfrm>
            <a:off x="7269480" y="1600200"/>
            <a:ext cx="845820" cy="310896"/>
          </a:xfrm>
          <a:prstGeom prst="rect">
            <a:avLst/>
          </a:prstGeom>
          <a:noFill/>
          <a:ln/>
        </p:spPr>
        <p:txBody>
          <a:bodyPr wrap="square" lIns="0" tIns="0" rIns="0" bIns="0" rtlCol="0" anchor="ctr"/>
          <a:lstStyle/>
          <a:p>
            <a:pPr algn="ctr" indent="0" marL="0">
              <a:buNone/>
            </a:pPr>
            <a:r>
              <a:rPr lang="en-US" sz="1200" b="1" dirty="0">
                <a:solidFill>
                  <a:schemeClr val="accent6"/>
                </a:solidFill>
                <a:latin typeface="Courier New" pitchFamily="34" charset="0"/>
                <a:ea typeface="Courier New" pitchFamily="34" charset="-122"/>
                <a:cs typeface="Courier New" pitchFamily="34" charset="-120"/>
              </a:rPr>
              <a:t>130**</a:t>
            </a:r>
            <a:endParaRPr lang="en-US" sz="1200" dirty="0"/>
          </a:p>
        </p:txBody>
      </p:sp>
      <p:sp>
        <p:nvSpPr>
          <p:cNvPr id="8" name="Closing chip 3"/>
          <p:cNvSpPr/>
          <p:nvPr/>
        </p:nvSpPr>
        <p:spPr>
          <a:xfrm>
            <a:off x="7269480" y="2103120"/>
            <a:ext cx="1421892" cy="310896"/>
          </a:xfrm>
          <a:prstGeom prst="roundRect">
            <a:avLst>
              <a:gd name="adj" fmla="val 50000"/>
            </a:avLst>
          </a:prstGeom>
          <a:solidFill>
            <a:schemeClr val="tx1">
              <a:alpha val="0"/>
            </a:schemeClr>
          </a:solidFill>
          <a:ln w="15875">
            <a:solidFill>
              <a:schemeClr val="accent3"/>
            </a:solidFill>
            <a:prstDash val="solid"/>
          </a:ln>
        </p:spPr>
      </p:sp>
      <p:sp>
        <p:nvSpPr>
          <p:cNvPr id="9" name="Closing chip 3 text"/>
          <p:cNvSpPr txBox="1"/>
          <p:nvPr/>
        </p:nvSpPr>
        <p:spPr>
          <a:xfrm>
            <a:off x="7269480" y="2103120"/>
            <a:ext cx="1421892" cy="310896"/>
          </a:xfrm>
          <a:prstGeom prst="rect">
            <a:avLst/>
          </a:prstGeom>
          <a:noFill/>
          <a:ln/>
        </p:spPr>
        <p:txBody>
          <a:bodyPr wrap="square" lIns="0" tIns="0" rIns="0" bIns="0" rtlCol="0" anchor="ctr"/>
          <a:lstStyle/>
          <a:p>
            <a:pPr algn="ctr" indent="0" marL="0">
              <a:buNone/>
            </a:pPr>
            <a:r>
              <a:rPr lang="en-US" sz="1200" b="1" dirty="0">
                <a:solidFill>
                  <a:schemeClr val="accent6"/>
                </a:solidFill>
                <a:latin typeface="Courier New" pitchFamily="34" charset="0"/>
                <a:ea typeface="Courier New" pitchFamily="34" charset="-122"/>
                <a:cs typeface="Courier New" pitchFamily="34" charset="-120"/>
              </a:rPr>
              <a:t>[CLINICIAN]</a:t>
            </a:r>
            <a:endParaRPr lang="en-US" sz="1200" dirty="0"/>
          </a:p>
        </p:txBody>
      </p:sp>
      <p:sp>
        <p:nvSpPr>
          <p:cNvPr id="10" name="Closing chip 4"/>
          <p:cNvSpPr/>
          <p:nvPr/>
        </p:nvSpPr>
        <p:spPr>
          <a:xfrm>
            <a:off x="7269480" y="2606040"/>
            <a:ext cx="845820" cy="310896"/>
          </a:xfrm>
          <a:prstGeom prst="roundRect">
            <a:avLst>
              <a:gd name="adj" fmla="val 50000"/>
            </a:avLst>
          </a:prstGeom>
          <a:solidFill>
            <a:schemeClr val="tx1">
              <a:alpha val="0"/>
            </a:schemeClr>
          </a:solidFill>
          <a:ln w="15875">
            <a:solidFill>
              <a:schemeClr val="accent3"/>
            </a:solidFill>
            <a:prstDash val="solid"/>
          </a:ln>
        </p:spPr>
      </p:sp>
      <p:sp>
        <p:nvSpPr>
          <p:cNvPr id="11" name="Closing chip 4 text"/>
          <p:cNvSpPr txBox="1"/>
          <p:nvPr/>
        </p:nvSpPr>
        <p:spPr>
          <a:xfrm>
            <a:off x="7269480" y="2606040"/>
            <a:ext cx="845820" cy="310896"/>
          </a:xfrm>
          <a:prstGeom prst="rect">
            <a:avLst/>
          </a:prstGeom>
          <a:noFill/>
          <a:ln/>
        </p:spPr>
        <p:txBody>
          <a:bodyPr wrap="square" lIns="0" tIns="0" rIns="0" bIns="0" rtlCol="0" anchor="ctr"/>
          <a:lstStyle/>
          <a:p>
            <a:pPr algn="ctr" indent="0" marL="0">
              <a:buNone/>
            </a:pPr>
            <a:r>
              <a:rPr lang="en-US" sz="1200" b="1" dirty="0">
                <a:solidFill>
                  <a:schemeClr val="accent6"/>
                </a:solidFill>
                <a:latin typeface="Courier New" pitchFamily="34" charset="0"/>
                <a:ea typeface="Courier New" pitchFamily="34" charset="-122"/>
                <a:cs typeface="Courier New" pitchFamily="34" charset="-120"/>
              </a:rPr>
              <a:t>45-49</a:t>
            </a:r>
            <a:endParaRPr lang="en-US" sz="1200" dirty="0"/>
          </a:p>
        </p:txBody>
      </p:sp>
    </p:spTree>
  </p:cSld>
  <p:clrMapOvr>
    <a:masterClrMapping/>
  </p:clrMapOvr>
</p:sld>
</file>

<file path=ppt/theme/theme1.xml><?xml version="1.0" encoding="utf-8"?>
<a:theme xmlns:a="http://schemas.openxmlformats.org/drawingml/2006/main" name="ragkit-clinical">
  <a:themeElements>
    <a:clrScheme name="ragkit-clinical">
      <a:dk1>
        <a:srgbClr val="0B2A33"/>
      </a:dk1>
      <a:lt1>
        <a:srgbClr val="FFFFFF"/>
      </a:lt1>
      <a:dk2>
        <a:srgbClr val="14515C"/>
      </a:dk2>
      <a:lt2>
        <a:srgbClr val="EAF4F4"/>
      </a:lt2>
      <a:accent1>
        <a:srgbClr val="028090"/>
      </a:accent1>
      <a:accent2>
        <a:srgbClr val="E4572E"/>
      </a:accent2>
      <a:accent3>
        <a:srgbClr val="02C39A"/>
      </a:accent3>
      <a:accent4>
        <a:srgbClr val="F2B134"/>
      </a:accent4>
      <a:accent5>
        <a:srgbClr val="5B7B86"/>
      </a:accent5>
      <a:accent6>
        <a:srgbClr val="9AD1D4"/>
      </a:accent6>
      <a:hlink>
        <a:srgbClr val="028090"/>
      </a:hlink>
      <a:folHlink>
        <a:srgbClr val="5B7B86"/>
      </a:folHlink>
    </a:clrScheme>
    <a:fontScheme name="ragkit-clinic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ragkit: privacy-preserving RAG for health-data interoperability</dc:title>
  <dc:subject>PptxGenJS Presentation</dc:subject>
  <dc:creator>ragkit project</dc:creator>
  <cp:lastModifiedBy>ragkit project</cp:lastModifiedBy>
  <cp:revision>1</cp:revision>
  <dcterms:created xsi:type="dcterms:W3CDTF">2026-10-10T15:43:07Z</dcterms:created>
  <dcterms:modified xsi:type="dcterms:W3CDTF">2026-10-10T15:43:07Z</dcterms:modified>
</cp:coreProperties>
</file>